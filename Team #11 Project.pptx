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1d5d8dc83e_4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1d5d8dc83e_4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1d5d8dc83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1d5d8dc83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1d503b47a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1d503b47a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1d5d8dc83e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1d5d8dc83e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1d5d8dc83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1d5d8dc83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1d5d8dc83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1d5d8dc83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1d5d8dc83e_4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1d5d8dc83e_4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1d5d8dc83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1d5d8dc83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1d5d8dc83e_9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1d5d8dc83e_9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1ac612ff8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1ac612ff8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1434c77e1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1434c77e1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1d5d8dc83e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1d5d8dc83e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Mean value was calculated for missing values for the data used specifically in the model.</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1d5d8dc83e_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1d5d8dc83e_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1d5d8dc83e_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1d5d8dc83e_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1d5d8dc83e_4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1d5d8dc83e_4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1d5d8dc83e_4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1d5d8dc83e_4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1d5d8dc83e_4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1d5d8dc83e_4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lt1"/>
            </a:gs>
            <a:gs pos="39000">
              <a:srgbClr val="1ED760"/>
            </a:gs>
            <a:gs pos="100000">
              <a:srgbClr val="121212"/>
            </a:gs>
          </a:gsLst>
          <a:lin ang="18900044"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mt="20000"/>
          </a:blip>
          <a:stretch>
            <a:fillRect/>
          </a:stretch>
        </p:blipFill>
        <p:spPr>
          <a:xfrm rot="5">
            <a:off x="7590325" y="1"/>
            <a:ext cx="1553674" cy="155537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C8C8C"/>
            </a:gs>
            <a:gs pos="100000">
              <a:srgbClr val="404040"/>
            </a:gs>
          </a:gsLst>
          <a:path path="circle">
            <a:fillToRect b="50%" l="50%" r="50%" t="50%"/>
          </a:path>
          <a:tileRect/>
        </a:gradFill>
      </p:bgPr>
    </p:bg>
    <p:spTree>
      <p:nvGrpSpPr>
        <p:cNvPr id="54" name="Shape 54"/>
        <p:cNvGrpSpPr/>
        <p:nvPr/>
      </p:nvGrpSpPr>
      <p:grpSpPr>
        <a:xfrm>
          <a:off x="0" y="0"/>
          <a:ext cx="0" cy="0"/>
          <a:chOff x="0" y="0"/>
          <a:chExt cx="0" cy="0"/>
        </a:xfrm>
      </p:grpSpPr>
      <p:sp>
        <p:nvSpPr>
          <p:cNvPr id="55" name="Google Shape;55;p13"/>
          <p:cNvSpPr/>
          <p:nvPr/>
        </p:nvSpPr>
        <p:spPr>
          <a:xfrm>
            <a:off x="1975801" y="2571750"/>
            <a:ext cx="7116368" cy="2475098"/>
          </a:xfrm>
          <a:prstGeom prst="rect">
            <a:avLst/>
          </a:prstGeom>
        </p:spPr>
        <p:txBody>
          <a:bodyPr>
            <a:prstTxWarp prst="textPlain"/>
          </a:bodyPr>
          <a:lstStyle/>
          <a:p>
            <a:pPr lvl="0" algn="ctr"/>
            <a:r>
              <a:rPr b="1" i="0">
                <a:ln cap="flat" cmpd="sng" w="28575">
                  <a:solidFill>
                    <a:srgbClr val="000000"/>
                  </a:solidFill>
                  <a:prstDash val="solid"/>
                  <a:round/>
                  <a:headEnd len="sm" w="sm" type="none"/>
                  <a:tailEnd len="sm" w="sm" type="none"/>
                </a:ln>
                <a:solidFill>
                  <a:srgbClr val="EFEFEF"/>
                </a:solidFill>
                <a:latin typeface="Georgia"/>
              </a:rPr>
              <a:t>Top 10 Songs</a:t>
            </a:r>
            <a:br>
              <a:rPr b="1" i="0">
                <a:ln cap="flat" cmpd="sng" w="28575">
                  <a:solidFill>
                    <a:srgbClr val="000000"/>
                  </a:solidFill>
                  <a:prstDash val="solid"/>
                  <a:round/>
                  <a:headEnd len="sm" w="sm" type="none"/>
                  <a:tailEnd len="sm" w="sm" type="none"/>
                </a:ln>
                <a:solidFill>
                  <a:srgbClr val="EFEFEF"/>
                </a:solidFill>
                <a:latin typeface="Georgia"/>
              </a:rPr>
            </a:br>
            <a:r>
              <a:rPr b="1" i="0">
                <a:ln cap="flat" cmpd="sng" w="28575">
                  <a:solidFill>
                    <a:srgbClr val="000000"/>
                  </a:solidFill>
                  <a:prstDash val="solid"/>
                  <a:round/>
                  <a:headEnd len="sm" w="sm" type="none"/>
                  <a:tailEnd len="sm" w="sm" type="none"/>
                </a:ln>
                <a:solidFill>
                  <a:srgbClr val="EFEFEF"/>
                </a:solidFill>
                <a:latin typeface="Georgia"/>
              </a:rPr>
              <a:t>of 2024</a:t>
            </a:r>
          </a:p>
        </p:txBody>
      </p:sp>
      <p:pic>
        <p:nvPicPr>
          <p:cNvPr id="56" name="Google Shape;56;p13"/>
          <p:cNvPicPr preferRelativeResize="0"/>
          <p:nvPr/>
        </p:nvPicPr>
        <p:blipFill>
          <a:blip r:embed="rId3">
            <a:alphaModFix/>
          </a:blip>
          <a:stretch>
            <a:fillRect/>
          </a:stretch>
        </p:blipFill>
        <p:spPr>
          <a:xfrm>
            <a:off x="259800" y="306925"/>
            <a:ext cx="7535975" cy="2264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p:cNvPicPr preferRelativeResize="0"/>
          <p:nvPr/>
        </p:nvPicPr>
        <p:blipFill>
          <a:blip r:embed="rId3">
            <a:alphaModFix/>
          </a:blip>
          <a:stretch>
            <a:fillRect/>
          </a:stretch>
        </p:blipFill>
        <p:spPr>
          <a:xfrm>
            <a:off x="0" y="0"/>
            <a:ext cx="9144000" cy="514351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39000">
              <a:srgbClr val="1ED760"/>
            </a:gs>
            <a:gs pos="100000">
              <a:srgbClr val="121212"/>
            </a:gs>
          </a:gsLst>
          <a:lin ang="18900044" scaled="0"/>
        </a:gradFill>
      </p:bgPr>
    </p:bg>
    <p:spTree>
      <p:nvGrpSpPr>
        <p:cNvPr id="65" name="Shape 65"/>
        <p:cNvGrpSpPr/>
        <p:nvPr/>
      </p:nvGrpSpPr>
      <p:grpSpPr>
        <a:xfrm>
          <a:off x="0" y="0"/>
          <a:ext cx="0" cy="0"/>
          <a:chOff x="0" y="0"/>
          <a:chExt cx="0" cy="0"/>
        </a:xfrm>
      </p:grpSpPr>
      <p:sp>
        <p:nvSpPr>
          <p:cNvPr id="66" name="Google Shape;66;p15"/>
          <p:cNvSpPr/>
          <p:nvPr/>
        </p:nvSpPr>
        <p:spPr>
          <a:xfrm>
            <a:off x="1771775" y="2394550"/>
            <a:ext cx="7205202" cy="2308674"/>
          </a:xfrm>
          <a:prstGeom prst="rect">
            <a:avLst/>
          </a:prstGeom>
        </p:spPr>
        <p:txBody>
          <a:bodyPr>
            <a:prstTxWarp prst="textPlain"/>
          </a:bodyPr>
          <a:lstStyle/>
          <a:p>
            <a:pPr lvl="0" algn="ctr"/>
            <a:r>
              <a:rPr b="1" i="0">
                <a:ln cap="flat" cmpd="sng" w="28575">
                  <a:solidFill>
                    <a:srgbClr val="000000"/>
                  </a:solidFill>
                  <a:prstDash val="solid"/>
                  <a:round/>
                  <a:headEnd len="sm" w="sm" type="none"/>
                  <a:tailEnd len="sm" w="sm" type="none"/>
                </a:ln>
                <a:solidFill>
                  <a:srgbClr val="FFFFFF"/>
                </a:solidFill>
                <a:latin typeface="Georgia"/>
              </a:rPr>
              <a:t>How to Make</a:t>
            </a:r>
            <a:br>
              <a:rPr b="1" i="0">
                <a:ln cap="flat" cmpd="sng" w="28575">
                  <a:solidFill>
                    <a:srgbClr val="000000"/>
                  </a:solidFill>
                  <a:prstDash val="solid"/>
                  <a:round/>
                  <a:headEnd len="sm" w="sm" type="none"/>
                  <a:tailEnd len="sm" w="sm" type="none"/>
                </a:ln>
                <a:solidFill>
                  <a:srgbClr val="FFFFFF"/>
                </a:solidFill>
                <a:latin typeface="Georgia"/>
              </a:rPr>
            </a:br>
            <a:r>
              <a:rPr b="1" i="0">
                <a:ln cap="flat" cmpd="sng" w="28575">
                  <a:solidFill>
                    <a:srgbClr val="000000"/>
                  </a:solidFill>
                  <a:prstDash val="solid"/>
                  <a:round/>
                  <a:headEnd len="sm" w="sm" type="none"/>
                  <a:tailEnd len="sm" w="sm" type="none"/>
                </a:ln>
                <a:solidFill>
                  <a:srgbClr val="FFFFFF"/>
                </a:solidFill>
                <a:latin typeface="Georgia"/>
              </a:rPr>
              <a:t>a Top 10 Song</a:t>
            </a:r>
          </a:p>
        </p:txBody>
      </p:sp>
      <p:pic>
        <p:nvPicPr>
          <p:cNvPr id="67" name="Google Shape;67;p15"/>
          <p:cNvPicPr preferRelativeResize="0"/>
          <p:nvPr/>
        </p:nvPicPr>
        <p:blipFill>
          <a:blip r:embed="rId3">
            <a:alphaModFix/>
          </a:blip>
          <a:stretch>
            <a:fillRect/>
          </a:stretch>
        </p:blipFill>
        <p:spPr>
          <a:xfrm>
            <a:off x="-2" y="297300"/>
            <a:ext cx="7205202" cy="21601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nvSpPr>
        <p:spPr>
          <a:xfrm>
            <a:off x="1479450" y="343625"/>
            <a:ext cx="6185100" cy="72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rgbClr val="F2F2F2"/>
                </a:solidFill>
                <a:latin typeface="Georgia"/>
                <a:ea typeface="Georgia"/>
                <a:cs typeface="Georgia"/>
                <a:sym typeface="Georgia"/>
              </a:rPr>
              <a:t>What</a:t>
            </a:r>
            <a:r>
              <a:rPr lang="en" sz="3000">
                <a:solidFill>
                  <a:srgbClr val="F2F2F2"/>
                </a:solidFill>
                <a:latin typeface="Georgia"/>
                <a:ea typeface="Georgia"/>
                <a:cs typeface="Georgia"/>
                <a:sym typeface="Georgia"/>
              </a:rPr>
              <a:t> is Our Problem?</a:t>
            </a:r>
            <a:endParaRPr sz="3000">
              <a:solidFill>
                <a:srgbClr val="F2F2F2"/>
              </a:solidFill>
              <a:latin typeface="Georgia"/>
              <a:ea typeface="Georgia"/>
              <a:cs typeface="Georgia"/>
              <a:sym typeface="Georgia"/>
            </a:endParaRPr>
          </a:p>
        </p:txBody>
      </p:sp>
      <p:sp>
        <p:nvSpPr>
          <p:cNvPr id="73" name="Google Shape;73;p16"/>
          <p:cNvSpPr txBox="1"/>
          <p:nvPr/>
        </p:nvSpPr>
        <p:spPr>
          <a:xfrm>
            <a:off x="86725" y="1538625"/>
            <a:ext cx="8390700" cy="23232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dk1"/>
              </a:buClr>
              <a:buSzPts val="1500"/>
              <a:buChar char="●"/>
            </a:pPr>
            <a:r>
              <a:rPr lang="en" sz="1500">
                <a:solidFill>
                  <a:schemeClr val="dk1"/>
                </a:solidFill>
              </a:rPr>
              <a:t>Predicting a </a:t>
            </a:r>
            <a:r>
              <a:rPr b="1" lang="en" sz="1500">
                <a:solidFill>
                  <a:schemeClr val="dk1"/>
                </a:solidFill>
                <a:highlight>
                  <a:srgbClr val="FFFFFF"/>
                </a:highlight>
              </a:rPr>
              <a:t>Top 10 Hit</a:t>
            </a:r>
            <a:r>
              <a:rPr lang="en" sz="1500">
                <a:solidFill>
                  <a:schemeClr val="dk1"/>
                </a:solidFill>
              </a:rPr>
              <a:t> is challenging</a:t>
            </a:r>
            <a:endParaRPr sz="1500">
              <a:solidFill>
                <a:schemeClr val="dk1"/>
              </a:solidFill>
            </a:endParaRPr>
          </a:p>
          <a:p>
            <a:pPr indent="-323850" lvl="1" marL="914400" rtl="0" algn="l">
              <a:lnSpc>
                <a:spcPct val="150000"/>
              </a:lnSpc>
              <a:spcBef>
                <a:spcPts val="0"/>
              </a:spcBef>
              <a:spcAft>
                <a:spcPts val="0"/>
              </a:spcAft>
              <a:buSzPts val="1500"/>
              <a:buChar char="○"/>
            </a:pPr>
            <a:r>
              <a:rPr lang="en" sz="1500">
                <a:solidFill>
                  <a:schemeClr val="dk1"/>
                </a:solidFill>
              </a:rPr>
              <a:t>L</a:t>
            </a:r>
            <a:r>
              <a:rPr lang="en" sz="1500">
                <a:solidFill>
                  <a:schemeClr val="dk1"/>
                </a:solidFill>
              </a:rPr>
              <a:t>istener preferences</a:t>
            </a:r>
            <a:r>
              <a:rPr lang="en" sz="1500">
                <a:solidFill>
                  <a:schemeClr val="dk1"/>
                </a:solidFill>
              </a:rPr>
              <a:t> are </a:t>
            </a:r>
            <a:r>
              <a:rPr b="1" lang="en" sz="1500">
                <a:solidFill>
                  <a:schemeClr val="dk1"/>
                </a:solidFill>
                <a:highlight>
                  <a:srgbClr val="FFFFFF"/>
                </a:highlight>
              </a:rPr>
              <a:t>Subjective</a:t>
            </a:r>
            <a:r>
              <a:rPr lang="en" sz="1500">
                <a:solidFill>
                  <a:schemeClr val="dk1"/>
                </a:solidFill>
              </a:rPr>
              <a:t> &amp; </a:t>
            </a:r>
            <a:r>
              <a:rPr b="1" lang="en" sz="1500">
                <a:solidFill>
                  <a:srgbClr val="FFFFFF"/>
                </a:solidFill>
                <a:highlight>
                  <a:srgbClr val="000000"/>
                </a:highlight>
              </a:rPr>
              <a:t>Dynamic</a:t>
            </a:r>
            <a:endParaRPr b="1" sz="1500">
              <a:solidFill>
                <a:srgbClr val="FFFFFF"/>
              </a:solidFill>
              <a:highlight>
                <a:srgbClr val="000000"/>
              </a:highlight>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Vast amounts of song data makes it </a:t>
            </a:r>
            <a:r>
              <a:rPr b="1" lang="en" sz="1500">
                <a:solidFill>
                  <a:schemeClr val="dk1"/>
                </a:solidFill>
                <a:highlight>
                  <a:srgbClr val="FFFFFF"/>
                </a:highlight>
              </a:rPr>
              <a:t>difficult to identify potential hits</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We aim to </a:t>
            </a:r>
            <a:r>
              <a:rPr b="1" lang="en" sz="1500">
                <a:solidFill>
                  <a:srgbClr val="FFFFFF"/>
                </a:solidFill>
                <a:highlight>
                  <a:srgbClr val="000000"/>
                </a:highlight>
              </a:rPr>
              <a:t>analyze song features</a:t>
            </a:r>
            <a:r>
              <a:rPr lang="en" sz="1500">
                <a:solidFill>
                  <a:schemeClr val="dk1"/>
                </a:solidFill>
              </a:rPr>
              <a:t> and </a:t>
            </a:r>
            <a:r>
              <a:rPr lang="en" sz="1500">
                <a:solidFill>
                  <a:schemeClr val="dk1"/>
                </a:solidFill>
              </a:rPr>
              <a:t>provide a </a:t>
            </a:r>
            <a:r>
              <a:rPr b="1" lang="en" sz="1500">
                <a:solidFill>
                  <a:srgbClr val="FFFFFF"/>
                </a:solidFill>
                <a:highlight>
                  <a:srgbClr val="000000"/>
                </a:highlight>
              </a:rPr>
              <a:t>data-driven approach</a:t>
            </a:r>
            <a:r>
              <a:rPr lang="en" sz="1500">
                <a:solidFill>
                  <a:schemeClr val="dk1"/>
                </a:solidFill>
              </a:rPr>
              <a:t> to this challenge</a:t>
            </a:r>
            <a:endParaRPr sz="1500">
              <a:solidFill>
                <a:schemeClr val="dk1"/>
              </a:solidFill>
            </a:endParaRPr>
          </a:p>
          <a:p>
            <a:pPr indent="-323850" lvl="1" marL="914400" rtl="0" algn="l">
              <a:lnSpc>
                <a:spcPct val="150000"/>
              </a:lnSpc>
              <a:spcBef>
                <a:spcPts val="0"/>
              </a:spcBef>
              <a:spcAft>
                <a:spcPts val="0"/>
              </a:spcAft>
              <a:buClr>
                <a:schemeClr val="dk1"/>
              </a:buClr>
              <a:buSzPts val="1500"/>
              <a:buChar char="○"/>
            </a:pPr>
            <a:r>
              <a:rPr lang="en" sz="1500">
                <a:solidFill>
                  <a:schemeClr val="dk1"/>
                </a:solidFill>
              </a:rPr>
              <a:t>Features include </a:t>
            </a:r>
            <a:r>
              <a:rPr b="1" lang="en" sz="1500">
                <a:solidFill>
                  <a:schemeClr val="dk1"/>
                </a:solidFill>
                <a:highlight>
                  <a:srgbClr val="FFFFFF"/>
                </a:highlight>
              </a:rPr>
              <a:t>danceability</a:t>
            </a:r>
            <a:r>
              <a:rPr lang="en" sz="1500">
                <a:solidFill>
                  <a:schemeClr val="dk1"/>
                </a:solidFill>
              </a:rPr>
              <a:t>, </a:t>
            </a:r>
            <a:r>
              <a:rPr b="1" lang="en" sz="1500">
                <a:solidFill>
                  <a:schemeClr val="dk1"/>
                </a:solidFill>
                <a:highlight>
                  <a:srgbClr val="FFFFFF"/>
                </a:highlight>
              </a:rPr>
              <a:t>release date</a:t>
            </a:r>
            <a:r>
              <a:rPr lang="en" sz="1500">
                <a:solidFill>
                  <a:schemeClr val="dk1"/>
                </a:solidFill>
              </a:rPr>
              <a:t>, </a:t>
            </a:r>
            <a:r>
              <a:rPr b="1" lang="en" sz="1500">
                <a:solidFill>
                  <a:schemeClr val="dk1"/>
                </a:solidFill>
                <a:highlight>
                  <a:srgbClr val="FFFFFF"/>
                </a:highlight>
              </a:rPr>
              <a:t>tempo</a:t>
            </a:r>
            <a:r>
              <a:rPr lang="en" sz="1500">
                <a:solidFill>
                  <a:schemeClr val="dk1"/>
                </a:solidFill>
              </a:rPr>
              <a:t>, etc.</a:t>
            </a:r>
            <a:endParaRPr sz="1500">
              <a:solidFill>
                <a:schemeClr val="dk1"/>
              </a:solidFill>
            </a:endParaRPr>
          </a:p>
        </p:txBody>
      </p:sp>
      <p:pic>
        <p:nvPicPr>
          <p:cNvPr id="74" name="Google Shape;74;p16"/>
          <p:cNvPicPr preferRelativeResize="0"/>
          <p:nvPr/>
        </p:nvPicPr>
        <p:blipFill>
          <a:blip r:embed="rId3">
            <a:alphaModFix/>
          </a:blip>
          <a:stretch>
            <a:fillRect/>
          </a:stretch>
        </p:blipFill>
        <p:spPr>
          <a:xfrm>
            <a:off x="0" y="3861825"/>
            <a:ext cx="9144003" cy="28447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215050" y="17657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520">
                <a:solidFill>
                  <a:srgbClr val="F2F2F2"/>
                </a:solidFill>
                <a:latin typeface="Georgia"/>
                <a:ea typeface="Georgia"/>
                <a:cs typeface="Georgia"/>
                <a:sym typeface="Georgia"/>
              </a:rPr>
              <a:t>Why this is </a:t>
            </a:r>
            <a:r>
              <a:rPr lang="en" sz="3520">
                <a:solidFill>
                  <a:srgbClr val="F2F2F2"/>
                </a:solidFill>
                <a:latin typeface="Georgia"/>
                <a:ea typeface="Georgia"/>
                <a:cs typeface="Georgia"/>
                <a:sym typeface="Georgia"/>
              </a:rPr>
              <a:t>Valuable</a:t>
            </a:r>
            <a:endParaRPr sz="3520">
              <a:solidFill>
                <a:srgbClr val="F2F2F2"/>
              </a:solidFill>
              <a:latin typeface="Georgia"/>
              <a:ea typeface="Georgia"/>
              <a:cs typeface="Georgia"/>
              <a:sym typeface="Georgia"/>
            </a:endParaRPr>
          </a:p>
        </p:txBody>
      </p:sp>
      <p:sp>
        <p:nvSpPr>
          <p:cNvPr id="80" name="Google Shape;80;p17"/>
          <p:cNvSpPr txBox="1"/>
          <p:nvPr/>
        </p:nvSpPr>
        <p:spPr>
          <a:xfrm>
            <a:off x="419075" y="1165810"/>
            <a:ext cx="2919900" cy="17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u="sng">
                <a:solidFill>
                  <a:schemeClr val="dk1"/>
                </a:solidFill>
                <a:highlight>
                  <a:srgbClr val="FFFFFF"/>
                </a:highlight>
              </a:rPr>
              <a:t>Efficiency</a:t>
            </a:r>
            <a:endParaRPr sz="1800">
              <a:solidFill>
                <a:schemeClr val="dk1"/>
              </a:solidFill>
              <a:highlight>
                <a:srgbClr val="FFFFFF"/>
              </a:highlight>
            </a:endParaRPr>
          </a:p>
          <a:p>
            <a:pPr indent="0" lvl="0" marL="0" rtl="0" algn="l">
              <a:spcBef>
                <a:spcPts val="0"/>
              </a:spcBef>
              <a:spcAft>
                <a:spcPts val="0"/>
              </a:spcAft>
              <a:buNone/>
            </a:pPr>
            <a:r>
              <a:rPr b="1" lang="en" sz="1800">
                <a:solidFill>
                  <a:schemeClr val="dk1"/>
                </a:solidFill>
              </a:rPr>
              <a:t>Saves time and resources</a:t>
            </a:r>
            <a:r>
              <a:rPr lang="en" sz="1800">
                <a:solidFill>
                  <a:schemeClr val="dk1"/>
                </a:solidFill>
              </a:rPr>
              <a:t> by helping stakeholders focus on songs with the </a:t>
            </a:r>
            <a:r>
              <a:rPr b="1" lang="en" sz="1800">
                <a:solidFill>
                  <a:schemeClr val="dk1"/>
                </a:solidFill>
              </a:rPr>
              <a:t>highest potential for success</a:t>
            </a:r>
            <a:r>
              <a:rPr lang="en" sz="1800">
                <a:solidFill>
                  <a:schemeClr val="dk1"/>
                </a:solidFill>
              </a:rPr>
              <a:t>.</a:t>
            </a:r>
            <a:endParaRPr sz="1800">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2"/>
              </a:solidFill>
            </a:endParaRPr>
          </a:p>
        </p:txBody>
      </p:sp>
      <p:sp>
        <p:nvSpPr>
          <p:cNvPr id="81" name="Google Shape;81;p17"/>
          <p:cNvSpPr txBox="1"/>
          <p:nvPr/>
        </p:nvSpPr>
        <p:spPr>
          <a:xfrm>
            <a:off x="4232027" y="1165799"/>
            <a:ext cx="2919900" cy="17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u="sng">
                <a:solidFill>
                  <a:schemeClr val="dk1"/>
                </a:solidFill>
                <a:highlight>
                  <a:srgbClr val="FFFFFF"/>
                </a:highlight>
              </a:rPr>
              <a:t>Insight for Artists</a:t>
            </a:r>
            <a:endParaRPr sz="1900" u="sng">
              <a:solidFill>
                <a:schemeClr val="dk1"/>
              </a:solidFill>
              <a:highlight>
                <a:srgbClr val="FFFFFF"/>
              </a:highlight>
            </a:endParaRPr>
          </a:p>
          <a:p>
            <a:pPr indent="0" lvl="0" marL="0" rtl="0" algn="l">
              <a:spcBef>
                <a:spcPts val="0"/>
              </a:spcBef>
              <a:spcAft>
                <a:spcPts val="0"/>
              </a:spcAft>
              <a:buNone/>
            </a:pPr>
            <a:r>
              <a:rPr lang="en" sz="1900">
                <a:solidFill>
                  <a:schemeClr val="dk1"/>
                </a:solidFill>
              </a:rPr>
              <a:t>Helps artists understand </a:t>
            </a:r>
            <a:r>
              <a:rPr b="1" lang="en" sz="1900">
                <a:solidFill>
                  <a:schemeClr val="dk1"/>
                </a:solidFill>
              </a:rPr>
              <a:t>song qualities</a:t>
            </a:r>
            <a:r>
              <a:rPr lang="en" sz="1900">
                <a:solidFill>
                  <a:schemeClr val="dk1"/>
                </a:solidFill>
              </a:rPr>
              <a:t> that </a:t>
            </a:r>
            <a:r>
              <a:rPr b="1" lang="en" sz="1900">
                <a:solidFill>
                  <a:schemeClr val="dk1"/>
                </a:solidFill>
              </a:rPr>
              <a:t>r</a:t>
            </a:r>
            <a:r>
              <a:rPr b="1" lang="en" sz="1900">
                <a:solidFill>
                  <a:schemeClr val="dk1"/>
                </a:solidFill>
              </a:rPr>
              <a:t>esonate with listeners.</a:t>
            </a:r>
            <a:endParaRPr b="1" sz="1900">
              <a:solidFill>
                <a:schemeClr val="dk2"/>
              </a:solidFill>
            </a:endParaRPr>
          </a:p>
        </p:txBody>
      </p:sp>
      <p:sp>
        <p:nvSpPr>
          <p:cNvPr id="82" name="Google Shape;82;p17"/>
          <p:cNvSpPr txBox="1"/>
          <p:nvPr/>
        </p:nvSpPr>
        <p:spPr>
          <a:xfrm>
            <a:off x="1580650" y="3082383"/>
            <a:ext cx="2919900" cy="17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u="sng">
                <a:solidFill>
                  <a:schemeClr val="dk1"/>
                </a:solidFill>
                <a:highlight>
                  <a:srgbClr val="FFFFFF"/>
                </a:highlight>
              </a:rPr>
              <a:t>Marketing Optimization</a:t>
            </a:r>
            <a:r>
              <a:rPr lang="en" sz="1800">
                <a:solidFill>
                  <a:schemeClr val="dk1"/>
                </a:solidFill>
              </a:rPr>
              <a:t> Enables record labels to make </a:t>
            </a:r>
            <a:r>
              <a:rPr b="1" lang="en" sz="1800">
                <a:solidFill>
                  <a:schemeClr val="dk1"/>
                </a:solidFill>
              </a:rPr>
              <a:t>informed decisions</a:t>
            </a:r>
            <a:r>
              <a:rPr lang="en" sz="1800">
                <a:solidFill>
                  <a:schemeClr val="dk1"/>
                </a:solidFill>
              </a:rPr>
              <a:t> and refine </a:t>
            </a:r>
            <a:r>
              <a:rPr b="1" lang="en" sz="1800">
                <a:solidFill>
                  <a:schemeClr val="dk1"/>
                </a:solidFill>
              </a:rPr>
              <a:t>marketing strategies.</a:t>
            </a:r>
            <a:endParaRPr b="1" sz="1800">
              <a:solidFill>
                <a:schemeClr val="dk1"/>
              </a:solidFill>
            </a:endParaRPr>
          </a:p>
        </p:txBody>
      </p:sp>
      <p:sp>
        <p:nvSpPr>
          <p:cNvPr id="83" name="Google Shape;83;p17"/>
          <p:cNvSpPr txBox="1"/>
          <p:nvPr/>
        </p:nvSpPr>
        <p:spPr>
          <a:xfrm>
            <a:off x="5434706" y="3091533"/>
            <a:ext cx="2919900" cy="17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u="sng">
                <a:solidFill>
                  <a:schemeClr val="dk1"/>
                </a:solidFill>
                <a:highlight>
                  <a:srgbClr val="FFFFFF"/>
                </a:highlight>
              </a:rPr>
              <a:t>Enhanced Playlists</a:t>
            </a:r>
            <a:endParaRPr sz="1800" u="sng">
              <a:solidFill>
                <a:schemeClr val="dk1"/>
              </a:solidFill>
              <a:highlight>
                <a:srgbClr val="FFFFFF"/>
              </a:highlight>
            </a:endParaRPr>
          </a:p>
          <a:p>
            <a:pPr indent="0" lvl="0" marL="0" rtl="0" algn="l">
              <a:spcBef>
                <a:spcPts val="0"/>
              </a:spcBef>
              <a:spcAft>
                <a:spcPts val="0"/>
              </a:spcAft>
              <a:buNone/>
            </a:pPr>
            <a:r>
              <a:rPr lang="en" sz="1800">
                <a:solidFill>
                  <a:schemeClr val="dk1"/>
                </a:solidFill>
              </a:rPr>
              <a:t>Assists streaming platforms in </a:t>
            </a:r>
            <a:r>
              <a:rPr b="1" lang="en" sz="1800">
                <a:solidFill>
                  <a:schemeClr val="dk1"/>
                </a:solidFill>
              </a:rPr>
              <a:t>optimizing recommendations</a:t>
            </a:r>
            <a:r>
              <a:rPr lang="en" sz="1800">
                <a:solidFill>
                  <a:schemeClr val="dk1"/>
                </a:solidFill>
              </a:rPr>
              <a:t> and </a:t>
            </a:r>
            <a:r>
              <a:rPr b="1" lang="en" sz="1800">
                <a:solidFill>
                  <a:schemeClr val="dk1"/>
                </a:solidFill>
              </a:rPr>
              <a:t>increasing listener engagement.</a:t>
            </a:r>
            <a:endParaRPr b="1" sz="18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0"/>
                                        </p:tgtEl>
                                        <p:attrNameLst>
                                          <p:attrName>style.visibility</p:attrName>
                                        </p:attrNameLst>
                                      </p:cBhvr>
                                      <p:to>
                                        <p:strVal val="visible"/>
                                      </p:to>
                                    </p:set>
                                    <p:anim calcmode="lin" valueType="num">
                                      <p:cBhvr additive="base">
                                        <p:cTn dur="1000"/>
                                        <p:tgtEl>
                                          <p:spTgt spid="80"/>
                                        </p:tgtEl>
                                        <p:attrNameLst>
                                          <p:attrName>ppt_w</p:attrName>
                                        </p:attrNameLst>
                                      </p:cBhvr>
                                      <p:tavLst>
                                        <p:tav fmla="" tm="0">
                                          <p:val>
                                            <p:strVal val="0"/>
                                          </p:val>
                                        </p:tav>
                                        <p:tav fmla="" tm="100000">
                                          <p:val>
                                            <p:strVal val="#ppt_w"/>
                                          </p:val>
                                        </p:tav>
                                      </p:tavLst>
                                    </p:anim>
                                    <p:anim calcmode="lin" valueType="num">
                                      <p:cBhvr additive="base">
                                        <p:cTn dur="1000"/>
                                        <p:tgtEl>
                                          <p:spTgt spid="8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1"/>
                                        </p:tgtEl>
                                        <p:attrNameLst>
                                          <p:attrName>style.visibility</p:attrName>
                                        </p:attrNameLst>
                                      </p:cBhvr>
                                      <p:to>
                                        <p:strVal val="visible"/>
                                      </p:to>
                                    </p:set>
                                    <p:anim calcmode="lin" valueType="num">
                                      <p:cBhvr additive="base">
                                        <p:cTn dur="1000"/>
                                        <p:tgtEl>
                                          <p:spTgt spid="81"/>
                                        </p:tgtEl>
                                        <p:attrNameLst>
                                          <p:attrName>ppt_w</p:attrName>
                                        </p:attrNameLst>
                                      </p:cBhvr>
                                      <p:tavLst>
                                        <p:tav fmla="" tm="0">
                                          <p:val>
                                            <p:strVal val="0"/>
                                          </p:val>
                                        </p:tav>
                                        <p:tav fmla="" tm="100000">
                                          <p:val>
                                            <p:strVal val="#ppt_w"/>
                                          </p:val>
                                        </p:tav>
                                      </p:tavLst>
                                    </p:anim>
                                    <p:anim calcmode="lin" valueType="num">
                                      <p:cBhvr additive="base">
                                        <p:cTn dur="1000"/>
                                        <p:tgtEl>
                                          <p:spTgt spid="8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2"/>
                                        </p:tgtEl>
                                        <p:attrNameLst>
                                          <p:attrName>style.visibility</p:attrName>
                                        </p:attrNameLst>
                                      </p:cBhvr>
                                      <p:to>
                                        <p:strVal val="visible"/>
                                      </p:to>
                                    </p:set>
                                    <p:anim calcmode="lin" valueType="num">
                                      <p:cBhvr additive="base">
                                        <p:cTn dur="1000"/>
                                        <p:tgtEl>
                                          <p:spTgt spid="82"/>
                                        </p:tgtEl>
                                        <p:attrNameLst>
                                          <p:attrName>ppt_w</p:attrName>
                                        </p:attrNameLst>
                                      </p:cBhvr>
                                      <p:tavLst>
                                        <p:tav fmla="" tm="0">
                                          <p:val>
                                            <p:strVal val="0"/>
                                          </p:val>
                                        </p:tav>
                                        <p:tav fmla="" tm="100000">
                                          <p:val>
                                            <p:strVal val="#ppt_w"/>
                                          </p:val>
                                        </p:tav>
                                      </p:tavLst>
                                    </p:anim>
                                    <p:anim calcmode="lin" valueType="num">
                                      <p:cBhvr additive="base">
                                        <p:cTn dur="1000"/>
                                        <p:tgtEl>
                                          <p:spTgt spid="8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3"/>
                                        </p:tgtEl>
                                        <p:attrNameLst>
                                          <p:attrName>style.visibility</p:attrName>
                                        </p:attrNameLst>
                                      </p:cBhvr>
                                      <p:to>
                                        <p:strVal val="visible"/>
                                      </p:to>
                                    </p:set>
                                    <p:anim calcmode="lin" valueType="num">
                                      <p:cBhvr additive="base">
                                        <p:cTn dur="1000"/>
                                        <p:tgtEl>
                                          <p:spTgt spid="83"/>
                                        </p:tgtEl>
                                        <p:attrNameLst>
                                          <p:attrName>ppt_w</p:attrName>
                                        </p:attrNameLst>
                                      </p:cBhvr>
                                      <p:tavLst>
                                        <p:tav fmla="" tm="0">
                                          <p:val>
                                            <p:strVal val="0"/>
                                          </p:val>
                                        </p:tav>
                                        <p:tav fmla="" tm="100000">
                                          <p:val>
                                            <p:strVal val="#ppt_w"/>
                                          </p:val>
                                        </p:tav>
                                      </p:tavLst>
                                    </p:anim>
                                    <p:anim calcmode="lin" valueType="num">
                                      <p:cBhvr additive="base">
                                        <p:cTn dur="1000"/>
                                        <p:tgtEl>
                                          <p:spTgt spid="8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p:nvPr/>
        </p:nvSpPr>
        <p:spPr>
          <a:xfrm>
            <a:off x="2867050" y="2126125"/>
            <a:ext cx="3060300" cy="1138200"/>
          </a:xfrm>
          <a:prstGeom prst="roundRect">
            <a:avLst>
              <a:gd fmla="val 16667" name="adj"/>
            </a:avLst>
          </a:prstGeom>
          <a:solidFill>
            <a:srgbClr val="999999"/>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800"/>
              <a:t>Stakeholders</a:t>
            </a:r>
            <a:endParaRPr b="1" sz="2800"/>
          </a:p>
        </p:txBody>
      </p:sp>
      <p:sp>
        <p:nvSpPr>
          <p:cNvPr id="89" name="Google Shape;89;p18"/>
          <p:cNvSpPr/>
          <p:nvPr/>
        </p:nvSpPr>
        <p:spPr>
          <a:xfrm>
            <a:off x="729625" y="389550"/>
            <a:ext cx="1482000" cy="1342200"/>
          </a:xfrm>
          <a:prstGeom prst="roundRect">
            <a:avLst>
              <a:gd fmla="val 20843" name="adj"/>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t>Record Labels</a:t>
            </a:r>
            <a:endParaRPr b="1" sz="2100"/>
          </a:p>
        </p:txBody>
      </p:sp>
      <p:sp>
        <p:nvSpPr>
          <p:cNvPr id="90" name="Google Shape;90;p18"/>
          <p:cNvSpPr/>
          <p:nvPr/>
        </p:nvSpPr>
        <p:spPr>
          <a:xfrm>
            <a:off x="4483575" y="275525"/>
            <a:ext cx="1537500" cy="1234800"/>
          </a:xfrm>
          <a:prstGeom prst="roundRect">
            <a:avLst>
              <a:gd fmla="val 16667" name="adj"/>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800"/>
              <a:t>Artists</a:t>
            </a:r>
            <a:endParaRPr b="1" sz="2800"/>
          </a:p>
        </p:txBody>
      </p:sp>
      <p:sp>
        <p:nvSpPr>
          <p:cNvPr id="91" name="Google Shape;91;p18"/>
          <p:cNvSpPr/>
          <p:nvPr/>
        </p:nvSpPr>
        <p:spPr>
          <a:xfrm>
            <a:off x="1023875" y="3231225"/>
            <a:ext cx="1756800" cy="1466700"/>
          </a:xfrm>
          <a:prstGeom prst="roundRect">
            <a:avLst>
              <a:gd fmla="val 16667" name="adj"/>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t>Streaming Platforms</a:t>
            </a:r>
            <a:endParaRPr b="1" sz="2000"/>
          </a:p>
        </p:txBody>
      </p:sp>
      <p:sp>
        <p:nvSpPr>
          <p:cNvPr id="92" name="Google Shape;92;p18"/>
          <p:cNvSpPr/>
          <p:nvPr/>
        </p:nvSpPr>
        <p:spPr>
          <a:xfrm>
            <a:off x="5927350" y="3511375"/>
            <a:ext cx="1756800" cy="1466700"/>
          </a:xfrm>
          <a:prstGeom prst="roundRect">
            <a:avLst>
              <a:gd fmla="val 16667" name="adj"/>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500"/>
              <a:t>Radio Stations</a:t>
            </a:r>
            <a:endParaRPr b="1" sz="2500"/>
          </a:p>
        </p:txBody>
      </p:sp>
      <p:sp>
        <p:nvSpPr>
          <p:cNvPr id="93" name="Google Shape;93;p18"/>
          <p:cNvSpPr/>
          <p:nvPr/>
        </p:nvSpPr>
        <p:spPr>
          <a:xfrm>
            <a:off x="6576325" y="1731750"/>
            <a:ext cx="1810200" cy="1342200"/>
          </a:xfrm>
          <a:prstGeom prst="roundRect">
            <a:avLst>
              <a:gd fmla="val 16667" name="adj"/>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t>Consumers</a:t>
            </a:r>
            <a:endParaRPr b="1"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9"/>
                                        </p:tgtEl>
                                        <p:attrNameLst>
                                          <p:attrName>style.visibility</p:attrName>
                                        </p:attrNameLst>
                                      </p:cBhvr>
                                      <p:to>
                                        <p:strVal val="visible"/>
                                      </p:to>
                                    </p:set>
                                    <p:anim calcmode="lin" valueType="num">
                                      <p:cBhvr additive="base">
                                        <p:cTn dur="1000"/>
                                        <p:tgtEl>
                                          <p:spTgt spid="89"/>
                                        </p:tgtEl>
                                        <p:attrNameLst>
                                          <p:attrName>ppt_w</p:attrName>
                                        </p:attrNameLst>
                                      </p:cBhvr>
                                      <p:tavLst>
                                        <p:tav fmla="" tm="0">
                                          <p:val>
                                            <p:strVal val="0"/>
                                          </p:val>
                                        </p:tav>
                                        <p:tav fmla="" tm="100000">
                                          <p:val>
                                            <p:strVal val="#ppt_w"/>
                                          </p:val>
                                        </p:tav>
                                      </p:tavLst>
                                    </p:anim>
                                    <p:anim calcmode="lin" valueType="num">
                                      <p:cBhvr additive="base">
                                        <p:cTn dur="1000"/>
                                        <p:tgtEl>
                                          <p:spTgt spid="8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0"/>
                                        </p:tgtEl>
                                        <p:attrNameLst>
                                          <p:attrName>style.visibility</p:attrName>
                                        </p:attrNameLst>
                                      </p:cBhvr>
                                      <p:to>
                                        <p:strVal val="visible"/>
                                      </p:to>
                                    </p:set>
                                    <p:anim calcmode="lin" valueType="num">
                                      <p:cBhvr additive="base">
                                        <p:cTn dur="1000"/>
                                        <p:tgtEl>
                                          <p:spTgt spid="90"/>
                                        </p:tgtEl>
                                        <p:attrNameLst>
                                          <p:attrName>ppt_w</p:attrName>
                                        </p:attrNameLst>
                                      </p:cBhvr>
                                      <p:tavLst>
                                        <p:tav fmla="" tm="0">
                                          <p:val>
                                            <p:strVal val="0"/>
                                          </p:val>
                                        </p:tav>
                                        <p:tav fmla="" tm="100000">
                                          <p:val>
                                            <p:strVal val="#ppt_w"/>
                                          </p:val>
                                        </p:tav>
                                      </p:tavLst>
                                    </p:anim>
                                    <p:anim calcmode="lin" valueType="num">
                                      <p:cBhvr additive="base">
                                        <p:cTn dur="1000"/>
                                        <p:tgtEl>
                                          <p:spTgt spid="9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3"/>
                                        </p:tgtEl>
                                        <p:attrNameLst>
                                          <p:attrName>style.visibility</p:attrName>
                                        </p:attrNameLst>
                                      </p:cBhvr>
                                      <p:to>
                                        <p:strVal val="visible"/>
                                      </p:to>
                                    </p:set>
                                    <p:anim calcmode="lin" valueType="num">
                                      <p:cBhvr additive="base">
                                        <p:cTn dur="1000"/>
                                        <p:tgtEl>
                                          <p:spTgt spid="93"/>
                                        </p:tgtEl>
                                        <p:attrNameLst>
                                          <p:attrName>ppt_w</p:attrName>
                                        </p:attrNameLst>
                                      </p:cBhvr>
                                      <p:tavLst>
                                        <p:tav fmla="" tm="0">
                                          <p:val>
                                            <p:strVal val="0"/>
                                          </p:val>
                                        </p:tav>
                                        <p:tav fmla="" tm="100000">
                                          <p:val>
                                            <p:strVal val="#ppt_w"/>
                                          </p:val>
                                        </p:tav>
                                      </p:tavLst>
                                    </p:anim>
                                    <p:anim calcmode="lin" valueType="num">
                                      <p:cBhvr additive="base">
                                        <p:cTn dur="1000"/>
                                        <p:tgtEl>
                                          <p:spTgt spid="9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2"/>
                                        </p:tgtEl>
                                        <p:attrNameLst>
                                          <p:attrName>style.visibility</p:attrName>
                                        </p:attrNameLst>
                                      </p:cBhvr>
                                      <p:to>
                                        <p:strVal val="visible"/>
                                      </p:to>
                                    </p:set>
                                    <p:anim calcmode="lin" valueType="num">
                                      <p:cBhvr additive="base">
                                        <p:cTn dur="1000"/>
                                        <p:tgtEl>
                                          <p:spTgt spid="92"/>
                                        </p:tgtEl>
                                        <p:attrNameLst>
                                          <p:attrName>ppt_w</p:attrName>
                                        </p:attrNameLst>
                                      </p:cBhvr>
                                      <p:tavLst>
                                        <p:tav fmla="" tm="0">
                                          <p:val>
                                            <p:strVal val="0"/>
                                          </p:val>
                                        </p:tav>
                                        <p:tav fmla="" tm="100000">
                                          <p:val>
                                            <p:strVal val="#ppt_w"/>
                                          </p:val>
                                        </p:tav>
                                      </p:tavLst>
                                    </p:anim>
                                    <p:anim calcmode="lin" valueType="num">
                                      <p:cBhvr additive="base">
                                        <p:cTn dur="1000"/>
                                        <p:tgtEl>
                                          <p:spTgt spid="9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1"/>
                                        </p:tgtEl>
                                        <p:attrNameLst>
                                          <p:attrName>style.visibility</p:attrName>
                                        </p:attrNameLst>
                                      </p:cBhvr>
                                      <p:to>
                                        <p:strVal val="visible"/>
                                      </p:to>
                                    </p:set>
                                    <p:anim calcmode="lin" valueType="num">
                                      <p:cBhvr additive="base">
                                        <p:cTn dur="1000"/>
                                        <p:tgtEl>
                                          <p:spTgt spid="91"/>
                                        </p:tgtEl>
                                        <p:attrNameLst>
                                          <p:attrName>ppt_w</p:attrName>
                                        </p:attrNameLst>
                                      </p:cBhvr>
                                      <p:tavLst>
                                        <p:tav fmla="" tm="0">
                                          <p:val>
                                            <p:strVal val="0"/>
                                          </p:val>
                                        </p:tav>
                                        <p:tav fmla="" tm="100000">
                                          <p:val>
                                            <p:strVal val="#ppt_w"/>
                                          </p:val>
                                        </p:tav>
                                      </p:tavLst>
                                    </p:anim>
                                    <p:anim calcmode="lin" valueType="num">
                                      <p:cBhvr additive="base">
                                        <p:cTn dur="1000"/>
                                        <p:tgtEl>
                                          <p:spTgt spid="9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p:nvPr/>
        </p:nvSpPr>
        <p:spPr>
          <a:xfrm>
            <a:off x="665750" y="247025"/>
            <a:ext cx="7581000" cy="3983700"/>
          </a:xfrm>
          <a:prstGeom prst="cloudCallout">
            <a:avLst>
              <a:gd fmla="val -34219" name="adj1"/>
              <a:gd fmla="val 7094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9"/>
          <p:cNvSpPr txBox="1"/>
          <p:nvPr>
            <p:ph type="title"/>
          </p:nvPr>
        </p:nvSpPr>
        <p:spPr>
          <a:xfrm>
            <a:off x="1345375" y="1049275"/>
            <a:ext cx="6131100" cy="210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5400">
                <a:latin typeface="Georgia"/>
                <a:ea typeface="Georgia"/>
                <a:cs typeface="Georgia"/>
                <a:sym typeface="Georgia"/>
              </a:rPr>
              <a:t>How would you </a:t>
            </a:r>
            <a:r>
              <a:rPr b="1" lang="en" sz="5400">
                <a:solidFill>
                  <a:srgbClr val="1ED760"/>
                </a:solidFill>
                <a:highlight>
                  <a:srgbClr val="121212"/>
                </a:highlight>
                <a:latin typeface="Georgia"/>
                <a:ea typeface="Georgia"/>
                <a:cs typeface="Georgia"/>
                <a:sym typeface="Georgia"/>
              </a:rPr>
              <a:t>DESCRIBE</a:t>
            </a:r>
            <a:r>
              <a:rPr lang="en" sz="5400">
                <a:latin typeface="Georgia"/>
                <a:ea typeface="Georgia"/>
                <a:cs typeface="Georgia"/>
                <a:sym typeface="Georgia"/>
              </a:rPr>
              <a:t> </a:t>
            </a:r>
            <a:endParaRPr sz="5400">
              <a:latin typeface="Georgia"/>
              <a:ea typeface="Georgia"/>
              <a:cs typeface="Georgia"/>
              <a:sym typeface="Georgia"/>
            </a:endParaRPr>
          </a:p>
          <a:p>
            <a:pPr indent="0" lvl="0" marL="0" rtl="0" algn="ctr">
              <a:spcBef>
                <a:spcPts val="0"/>
              </a:spcBef>
              <a:spcAft>
                <a:spcPts val="0"/>
              </a:spcAft>
              <a:buNone/>
            </a:pPr>
            <a:r>
              <a:rPr lang="en" sz="5400">
                <a:latin typeface="Georgia"/>
                <a:ea typeface="Georgia"/>
                <a:cs typeface="Georgia"/>
                <a:sym typeface="Georgia"/>
              </a:rPr>
              <a:t>a song?</a:t>
            </a:r>
            <a:endParaRPr sz="5400">
              <a:latin typeface="Georgia"/>
              <a:ea typeface="Georgia"/>
              <a:cs typeface="Georgia"/>
              <a:sym typeface="Georg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nvSpPr>
        <p:spPr>
          <a:xfrm>
            <a:off x="0" y="786000"/>
            <a:ext cx="4921500" cy="416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a:solidFill>
                  <a:schemeClr val="dk1"/>
                </a:solidFill>
              </a:rPr>
              <a:t>BPM (Beats per Minute) - </a:t>
            </a:r>
            <a:r>
              <a:rPr b="1" lang="en">
                <a:solidFill>
                  <a:srgbClr val="FFFFFF"/>
                </a:solidFill>
                <a:highlight>
                  <a:srgbClr val="000000"/>
                </a:highlight>
              </a:rPr>
              <a:t>Tempo</a:t>
            </a:r>
            <a:r>
              <a:rPr lang="en">
                <a:solidFill>
                  <a:schemeClr val="dk1"/>
                </a:solidFill>
              </a:rPr>
              <a:t> of the song</a:t>
            </a:r>
            <a:endParaRPr>
              <a:solidFill>
                <a:schemeClr val="dk1"/>
              </a:solidFill>
            </a:endParaRPr>
          </a:p>
          <a:p>
            <a:pPr indent="0" lvl="0" marL="0" rtl="0" algn="l">
              <a:lnSpc>
                <a:spcPct val="115000"/>
              </a:lnSpc>
              <a:spcBef>
                <a:spcPts val="1400"/>
              </a:spcBef>
              <a:spcAft>
                <a:spcPts val="0"/>
              </a:spcAft>
              <a:buNone/>
            </a:pPr>
            <a:r>
              <a:rPr b="1" lang="en">
                <a:solidFill>
                  <a:schemeClr val="dk1"/>
                </a:solidFill>
              </a:rPr>
              <a:t>Key/Mode - </a:t>
            </a:r>
            <a:r>
              <a:rPr b="1" lang="en">
                <a:solidFill>
                  <a:schemeClr val="dk1"/>
                </a:solidFill>
                <a:highlight>
                  <a:srgbClr val="FFFFFF"/>
                </a:highlight>
              </a:rPr>
              <a:t>musical key</a:t>
            </a:r>
            <a:r>
              <a:rPr lang="en">
                <a:solidFill>
                  <a:schemeClr val="dk1"/>
                </a:solidFill>
              </a:rPr>
              <a:t> of the song/</a:t>
            </a:r>
            <a:r>
              <a:rPr b="1" lang="en">
                <a:solidFill>
                  <a:srgbClr val="FFFFFF"/>
                </a:solidFill>
                <a:highlight>
                  <a:srgbClr val="000000"/>
                </a:highlight>
              </a:rPr>
              <a:t>major or minor key</a:t>
            </a:r>
            <a:endParaRPr b="1">
              <a:solidFill>
                <a:srgbClr val="FFFFFF"/>
              </a:solidFill>
              <a:highlight>
                <a:srgbClr val="000000"/>
              </a:highlight>
            </a:endParaRPr>
          </a:p>
          <a:p>
            <a:pPr indent="0" lvl="0" marL="0" rtl="0" algn="l">
              <a:lnSpc>
                <a:spcPct val="115000"/>
              </a:lnSpc>
              <a:spcBef>
                <a:spcPts val="1400"/>
              </a:spcBef>
              <a:spcAft>
                <a:spcPts val="0"/>
              </a:spcAft>
              <a:buNone/>
            </a:pPr>
            <a:r>
              <a:rPr b="1" lang="en">
                <a:solidFill>
                  <a:schemeClr val="dk1"/>
                </a:solidFill>
              </a:rPr>
              <a:t>Danceability - </a:t>
            </a:r>
            <a:r>
              <a:rPr lang="en">
                <a:solidFill>
                  <a:schemeClr val="dk1"/>
                </a:solidFill>
              </a:rPr>
              <a:t>Suitability of the song for </a:t>
            </a:r>
            <a:r>
              <a:rPr b="1" lang="en">
                <a:solidFill>
                  <a:schemeClr val="dk1"/>
                </a:solidFill>
                <a:highlight>
                  <a:srgbClr val="FFFFFF"/>
                </a:highlight>
              </a:rPr>
              <a:t>dancing</a:t>
            </a:r>
            <a:endParaRPr b="1">
              <a:solidFill>
                <a:schemeClr val="dk1"/>
              </a:solidFill>
              <a:highlight>
                <a:srgbClr val="FFFFFF"/>
              </a:highlight>
            </a:endParaRPr>
          </a:p>
          <a:p>
            <a:pPr indent="0" lvl="0" marL="0" rtl="0" algn="l">
              <a:lnSpc>
                <a:spcPct val="115000"/>
              </a:lnSpc>
              <a:spcBef>
                <a:spcPts val="1200"/>
              </a:spcBef>
              <a:spcAft>
                <a:spcPts val="0"/>
              </a:spcAft>
              <a:buNone/>
            </a:pPr>
            <a:r>
              <a:rPr b="1" lang="en">
                <a:solidFill>
                  <a:schemeClr val="dk1"/>
                </a:solidFill>
              </a:rPr>
              <a:t>Valence - </a:t>
            </a:r>
            <a:r>
              <a:rPr b="1" lang="en">
                <a:solidFill>
                  <a:schemeClr val="dk1"/>
                </a:solidFill>
                <a:highlight>
                  <a:srgbClr val="FFFFFF"/>
                </a:highlight>
              </a:rPr>
              <a:t>positivity</a:t>
            </a:r>
            <a:r>
              <a:rPr lang="en">
                <a:solidFill>
                  <a:schemeClr val="dk1"/>
                </a:solidFill>
              </a:rPr>
              <a:t> or emotional content </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Energy - </a:t>
            </a:r>
            <a:r>
              <a:rPr lang="en">
                <a:solidFill>
                  <a:schemeClr val="dk1"/>
                </a:solidFill>
              </a:rPr>
              <a:t>reflecting </a:t>
            </a:r>
            <a:r>
              <a:rPr b="1" lang="en">
                <a:solidFill>
                  <a:schemeClr val="dk1"/>
                </a:solidFill>
                <a:highlight>
                  <a:srgbClr val="FFFFFF"/>
                </a:highlight>
              </a:rPr>
              <a:t>intensity</a:t>
            </a:r>
            <a:r>
              <a:rPr lang="en">
                <a:solidFill>
                  <a:schemeClr val="dk1"/>
                </a:solidFill>
              </a:rPr>
              <a:t>,</a:t>
            </a:r>
            <a:r>
              <a:rPr b="1" lang="en">
                <a:solidFill>
                  <a:srgbClr val="FFFFFF"/>
                </a:solidFill>
                <a:highlight>
                  <a:srgbClr val="000000"/>
                </a:highlight>
              </a:rPr>
              <a:t>tempo</a:t>
            </a:r>
            <a:r>
              <a:rPr lang="en">
                <a:solidFill>
                  <a:schemeClr val="dk1"/>
                </a:solidFill>
              </a:rPr>
              <a:t>,</a:t>
            </a:r>
            <a:r>
              <a:rPr b="1" lang="en">
                <a:solidFill>
                  <a:schemeClr val="dk1"/>
                </a:solidFill>
                <a:highlight>
                  <a:srgbClr val="FFFFFF"/>
                </a:highlight>
              </a:rPr>
              <a:t>volume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Acousticness</a:t>
            </a:r>
            <a:r>
              <a:rPr b="1" lang="en">
                <a:solidFill>
                  <a:schemeClr val="dk1"/>
                </a:solidFill>
              </a:rPr>
              <a:t>  -</a:t>
            </a:r>
            <a:r>
              <a:rPr lang="en">
                <a:solidFill>
                  <a:schemeClr val="dk1"/>
                </a:solidFill>
              </a:rPr>
              <a:t>The degree of </a:t>
            </a:r>
            <a:r>
              <a:rPr b="1" lang="en">
                <a:solidFill>
                  <a:schemeClr val="dk1"/>
                </a:solidFill>
                <a:highlight>
                  <a:srgbClr val="FFFFFF"/>
                </a:highlight>
              </a:rPr>
              <a:t>acoustic sound </a:t>
            </a:r>
            <a:endParaRPr b="1">
              <a:solidFill>
                <a:schemeClr val="dk1"/>
              </a:solidFill>
              <a:highlight>
                <a:srgbClr val="FFFFFF"/>
              </a:highlight>
            </a:endParaRPr>
          </a:p>
          <a:p>
            <a:pPr indent="0" lvl="0" marL="0" rtl="0" algn="l">
              <a:lnSpc>
                <a:spcPct val="115000"/>
              </a:lnSpc>
              <a:spcBef>
                <a:spcPts val="1200"/>
              </a:spcBef>
              <a:spcAft>
                <a:spcPts val="0"/>
              </a:spcAft>
              <a:buNone/>
            </a:pPr>
            <a:r>
              <a:rPr b="1" lang="en">
                <a:solidFill>
                  <a:schemeClr val="dk1"/>
                </a:solidFill>
              </a:rPr>
              <a:t>Instrumentalness  - </a:t>
            </a:r>
            <a:r>
              <a:rPr b="1" lang="en">
                <a:solidFill>
                  <a:schemeClr val="dk1"/>
                </a:solidFill>
                <a:highlight>
                  <a:srgbClr val="FFFFFF"/>
                </a:highlight>
              </a:rPr>
              <a:t>Proportion</a:t>
            </a:r>
            <a:r>
              <a:rPr lang="en">
                <a:solidFill>
                  <a:schemeClr val="dk1"/>
                </a:solidFill>
              </a:rPr>
              <a:t> of the song that is instrumental</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Liveness - </a:t>
            </a:r>
            <a:r>
              <a:rPr lang="en">
                <a:solidFill>
                  <a:schemeClr val="dk1"/>
                </a:solidFill>
              </a:rPr>
              <a:t>Presence of </a:t>
            </a:r>
            <a:r>
              <a:rPr b="1" lang="en">
                <a:solidFill>
                  <a:srgbClr val="FFFFFF"/>
                </a:solidFill>
                <a:highlight>
                  <a:srgbClr val="000000"/>
                </a:highlight>
              </a:rPr>
              <a:t>live performance elements</a:t>
            </a:r>
            <a:endParaRPr b="1">
              <a:solidFill>
                <a:srgbClr val="FFFFFF"/>
              </a:solidFill>
              <a:highlight>
                <a:srgbClr val="000000"/>
              </a:highlight>
            </a:endParaRPr>
          </a:p>
          <a:p>
            <a:pPr indent="0" lvl="0" marL="0" rtl="0" algn="l">
              <a:lnSpc>
                <a:spcPct val="115000"/>
              </a:lnSpc>
              <a:spcBef>
                <a:spcPts val="1200"/>
              </a:spcBef>
              <a:spcAft>
                <a:spcPts val="1200"/>
              </a:spcAft>
              <a:buNone/>
            </a:pPr>
            <a:r>
              <a:rPr b="1" lang="en">
                <a:solidFill>
                  <a:schemeClr val="dk1"/>
                </a:solidFill>
              </a:rPr>
              <a:t>Speechiness - </a:t>
            </a:r>
            <a:r>
              <a:rPr lang="en">
                <a:solidFill>
                  <a:schemeClr val="dk1"/>
                </a:solidFill>
              </a:rPr>
              <a:t>s</a:t>
            </a:r>
            <a:r>
              <a:rPr lang="en">
                <a:solidFill>
                  <a:schemeClr val="dk1"/>
                </a:solidFill>
              </a:rPr>
              <a:t>poken words (e.g. </a:t>
            </a:r>
            <a:r>
              <a:rPr b="1" lang="en">
                <a:solidFill>
                  <a:schemeClr val="dk1"/>
                </a:solidFill>
                <a:highlight>
                  <a:srgbClr val="FFFFFF"/>
                </a:highlight>
              </a:rPr>
              <a:t>rap</a:t>
            </a:r>
            <a:r>
              <a:rPr lang="en">
                <a:solidFill>
                  <a:schemeClr val="dk1"/>
                </a:solidFill>
              </a:rPr>
              <a:t> </a:t>
            </a:r>
            <a:r>
              <a:rPr lang="en">
                <a:solidFill>
                  <a:schemeClr val="dk1"/>
                </a:solidFill>
              </a:rPr>
              <a:t>or </a:t>
            </a:r>
            <a:r>
              <a:rPr b="1" lang="en">
                <a:solidFill>
                  <a:srgbClr val="FFFFFF"/>
                </a:solidFill>
                <a:highlight>
                  <a:srgbClr val="000000"/>
                </a:highlight>
              </a:rPr>
              <a:t>dialogue driven songs</a:t>
            </a:r>
            <a:r>
              <a:rPr lang="en">
                <a:solidFill>
                  <a:schemeClr val="dk1"/>
                </a:solidFill>
              </a:rPr>
              <a:t>)</a:t>
            </a:r>
            <a:endParaRPr sz="1650">
              <a:solidFill>
                <a:schemeClr val="dk1"/>
              </a:solidFill>
            </a:endParaRPr>
          </a:p>
        </p:txBody>
      </p:sp>
      <p:pic>
        <p:nvPicPr>
          <p:cNvPr id="105" name="Google Shape;105;p20"/>
          <p:cNvPicPr preferRelativeResize="0"/>
          <p:nvPr/>
        </p:nvPicPr>
        <p:blipFill>
          <a:blip r:embed="rId3">
            <a:alphaModFix/>
          </a:blip>
          <a:stretch>
            <a:fillRect/>
          </a:stretch>
        </p:blipFill>
        <p:spPr>
          <a:xfrm>
            <a:off x="4952300" y="0"/>
            <a:ext cx="6921249" cy="5143499"/>
          </a:xfrm>
          <a:prstGeom prst="rect">
            <a:avLst/>
          </a:prstGeom>
          <a:noFill/>
          <a:ln>
            <a:noFill/>
          </a:ln>
        </p:spPr>
      </p:pic>
      <p:sp>
        <p:nvSpPr>
          <p:cNvPr id="106" name="Google Shape;106;p20"/>
          <p:cNvSpPr txBox="1"/>
          <p:nvPr/>
        </p:nvSpPr>
        <p:spPr>
          <a:xfrm>
            <a:off x="0" y="0"/>
            <a:ext cx="4921500" cy="76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 sz="3800">
                <a:solidFill>
                  <a:srgbClr val="1ED760"/>
                </a:solidFill>
                <a:highlight>
                  <a:schemeClr val="dk1"/>
                </a:highlight>
              </a:rPr>
              <a:t>Musical Attributes</a:t>
            </a:r>
            <a:endParaRPr sz="3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164125" y="305400"/>
            <a:ext cx="3339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20"/>
              <a:t>Understanding the </a:t>
            </a:r>
            <a:r>
              <a:rPr lang="en" sz="2120"/>
              <a:t>Data</a:t>
            </a:r>
            <a:endParaRPr sz="2120"/>
          </a:p>
        </p:txBody>
      </p:sp>
      <p:sp>
        <p:nvSpPr>
          <p:cNvPr id="112" name="Google Shape;112;p21"/>
          <p:cNvSpPr txBox="1"/>
          <p:nvPr>
            <p:ph idx="1" type="body"/>
          </p:nvPr>
        </p:nvSpPr>
        <p:spPr>
          <a:xfrm>
            <a:off x="257850" y="1152475"/>
            <a:ext cx="2914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solidFill>
                  <a:schemeClr val="dk1"/>
                </a:solidFill>
              </a:rPr>
              <a:t>Song Tempo </a:t>
            </a:r>
            <a:r>
              <a:rPr lang="en" sz="1100">
                <a:solidFill>
                  <a:schemeClr val="dk1"/>
                </a:solidFill>
              </a:rPr>
              <a:t>- 90-130 BPM </a:t>
            </a:r>
            <a:endParaRPr sz="1100">
              <a:solidFill>
                <a:schemeClr val="dk1"/>
              </a:solidFill>
            </a:endParaRPr>
          </a:p>
          <a:p>
            <a:pPr indent="0" lvl="0" marL="0" rtl="0" algn="l">
              <a:spcBef>
                <a:spcPts val="1200"/>
              </a:spcBef>
              <a:spcAft>
                <a:spcPts val="0"/>
              </a:spcAft>
              <a:buNone/>
            </a:pPr>
            <a:r>
              <a:rPr b="1" lang="en" sz="1100">
                <a:solidFill>
                  <a:schemeClr val="dk1"/>
                </a:solidFill>
              </a:rPr>
              <a:t>Energy - </a:t>
            </a:r>
            <a:r>
              <a:rPr lang="en" sz="1100">
                <a:solidFill>
                  <a:schemeClr val="dk1"/>
                </a:solidFill>
              </a:rPr>
              <a:t>Moderate to High</a:t>
            </a:r>
            <a:endParaRPr sz="1100">
              <a:solidFill>
                <a:schemeClr val="dk1"/>
              </a:solidFill>
            </a:endParaRPr>
          </a:p>
          <a:p>
            <a:pPr indent="0" lvl="0" marL="0" rtl="0" algn="l">
              <a:spcBef>
                <a:spcPts val="1200"/>
              </a:spcBef>
              <a:spcAft>
                <a:spcPts val="0"/>
              </a:spcAft>
              <a:buNone/>
            </a:pPr>
            <a:r>
              <a:rPr b="1" lang="en" sz="1100">
                <a:solidFill>
                  <a:schemeClr val="dk1"/>
                </a:solidFill>
              </a:rPr>
              <a:t>Valence</a:t>
            </a:r>
            <a:r>
              <a:rPr lang="en" sz="1100">
                <a:solidFill>
                  <a:schemeClr val="dk1"/>
                </a:solidFill>
              </a:rPr>
              <a:t> - Moderate </a:t>
            </a:r>
            <a:endParaRPr sz="1100">
              <a:solidFill>
                <a:schemeClr val="dk1"/>
              </a:solidFill>
            </a:endParaRPr>
          </a:p>
          <a:p>
            <a:pPr indent="0" lvl="0" marL="0" rtl="0" algn="l">
              <a:spcBef>
                <a:spcPts val="1200"/>
              </a:spcBef>
              <a:spcAft>
                <a:spcPts val="0"/>
              </a:spcAft>
              <a:buNone/>
            </a:pPr>
            <a:r>
              <a:rPr b="1" lang="en" sz="1100">
                <a:solidFill>
                  <a:schemeClr val="dk1"/>
                </a:solidFill>
              </a:rPr>
              <a:t>Mainstream Music</a:t>
            </a:r>
            <a:r>
              <a:rPr lang="en" sz="1100">
                <a:solidFill>
                  <a:schemeClr val="dk1"/>
                </a:solidFill>
              </a:rPr>
              <a:t> - dominated by non-instrumental, studio-recorded songs with low </a:t>
            </a:r>
            <a:r>
              <a:rPr lang="en" sz="1100">
                <a:solidFill>
                  <a:schemeClr val="dk1"/>
                </a:solidFill>
              </a:rPr>
              <a:t>acousticness</a:t>
            </a:r>
            <a:r>
              <a:rPr lang="en" sz="1100">
                <a:solidFill>
                  <a:schemeClr val="dk1"/>
                </a:solidFill>
              </a:rPr>
              <a:t> and speechiness.</a:t>
            </a:r>
            <a:endParaRPr sz="1100">
              <a:solidFill>
                <a:schemeClr val="dk1"/>
              </a:solidFill>
            </a:endParaRPr>
          </a:p>
          <a:p>
            <a:pPr indent="0" lvl="0" marL="0" rtl="0" algn="l">
              <a:spcBef>
                <a:spcPts val="1200"/>
              </a:spcBef>
              <a:spcAft>
                <a:spcPts val="1200"/>
              </a:spcAft>
              <a:buNone/>
            </a:pPr>
            <a:r>
              <a:rPr b="1" lang="en" sz="1100">
                <a:solidFill>
                  <a:schemeClr val="dk1"/>
                </a:solidFill>
              </a:rPr>
              <a:t>Seasonal Trends </a:t>
            </a:r>
            <a:r>
              <a:rPr lang="en" sz="1100">
                <a:solidFill>
                  <a:schemeClr val="dk1"/>
                </a:solidFill>
              </a:rPr>
              <a:t>- M</a:t>
            </a:r>
            <a:r>
              <a:rPr lang="en" sz="1100">
                <a:solidFill>
                  <a:schemeClr val="dk1"/>
                </a:solidFill>
              </a:rPr>
              <a:t>arch to July show higher releases indicating a possible marketing strategy.</a:t>
            </a:r>
            <a:endParaRPr sz="1100">
              <a:solidFill>
                <a:schemeClr val="dk1"/>
              </a:solidFill>
            </a:endParaRPr>
          </a:p>
        </p:txBody>
      </p:sp>
      <p:pic>
        <p:nvPicPr>
          <p:cNvPr id="113" name="Google Shape;113;p21"/>
          <p:cNvPicPr preferRelativeResize="0"/>
          <p:nvPr/>
        </p:nvPicPr>
        <p:blipFill>
          <a:blip r:embed="rId3">
            <a:alphaModFix/>
          </a:blip>
          <a:stretch>
            <a:fillRect/>
          </a:stretch>
        </p:blipFill>
        <p:spPr>
          <a:xfrm>
            <a:off x="6840101" y="3139374"/>
            <a:ext cx="2303901" cy="1991174"/>
          </a:xfrm>
          <a:prstGeom prst="rect">
            <a:avLst/>
          </a:prstGeom>
          <a:noFill/>
          <a:ln>
            <a:noFill/>
          </a:ln>
        </p:spPr>
      </p:pic>
      <p:pic>
        <p:nvPicPr>
          <p:cNvPr id="114" name="Google Shape;114;p21"/>
          <p:cNvPicPr preferRelativeResize="0"/>
          <p:nvPr/>
        </p:nvPicPr>
        <p:blipFill rotWithShape="1">
          <a:blip r:embed="rId3">
            <a:alphaModFix/>
          </a:blip>
          <a:srcRect b="75260" l="33647" r="32252" t="0"/>
          <a:stretch/>
        </p:blipFill>
        <p:spPr>
          <a:xfrm>
            <a:off x="547625" y="3871050"/>
            <a:ext cx="2029474" cy="1272451"/>
          </a:xfrm>
          <a:prstGeom prst="rect">
            <a:avLst/>
          </a:prstGeom>
          <a:noFill/>
          <a:ln>
            <a:noFill/>
          </a:ln>
        </p:spPr>
      </p:pic>
      <p:pic>
        <p:nvPicPr>
          <p:cNvPr id="115" name="Google Shape;115;p21"/>
          <p:cNvPicPr preferRelativeResize="0"/>
          <p:nvPr/>
        </p:nvPicPr>
        <p:blipFill rotWithShape="1">
          <a:blip r:embed="rId3">
            <a:alphaModFix/>
          </a:blip>
          <a:srcRect b="25402" l="68435" r="-912" t="49857"/>
          <a:stretch/>
        </p:blipFill>
        <p:spPr>
          <a:xfrm>
            <a:off x="4692500" y="3364875"/>
            <a:ext cx="1932850" cy="1272451"/>
          </a:xfrm>
          <a:prstGeom prst="rect">
            <a:avLst/>
          </a:prstGeom>
          <a:noFill/>
          <a:ln>
            <a:noFill/>
          </a:ln>
        </p:spPr>
      </p:pic>
      <p:pic>
        <p:nvPicPr>
          <p:cNvPr id="116" name="Google Shape;116;p21"/>
          <p:cNvPicPr preferRelativeResize="0"/>
          <p:nvPr/>
        </p:nvPicPr>
        <p:blipFill>
          <a:blip r:embed="rId3">
            <a:alphaModFix/>
          </a:blip>
          <a:stretch>
            <a:fillRect/>
          </a:stretch>
        </p:blipFill>
        <p:spPr>
          <a:xfrm>
            <a:off x="3503425" y="0"/>
            <a:ext cx="5640577" cy="51434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2195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4320">
                <a:solidFill>
                  <a:srgbClr val="FFFFFF"/>
                </a:solidFill>
                <a:latin typeface="Georgia"/>
                <a:ea typeface="Georgia"/>
                <a:cs typeface="Georgia"/>
                <a:sym typeface="Georgia"/>
              </a:rPr>
              <a:t>Feature Importance</a:t>
            </a:r>
            <a:endParaRPr sz="4320">
              <a:solidFill>
                <a:srgbClr val="FFFFFF"/>
              </a:solidFill>
              <a:latin typeface="Georgia"/>
              <a:ea typeface="Georgia"/>
              <a:cs typeface="Georgia"/>
              <a:sym typeface="Georgia"/>
            </a:endParaRPr>
          </a:p>
        </p:txBody>
      </p:sp>
      <p:pic>
        <p:nvPicPr>
          <p:cNvPr id="122" name="Google Shape;122;p22"/>
          <p:cNvPicPr preferRelativeResize="0"/>
          <p:nvPr/>
        </p:nvPicPr>
        <p:blipFill>
          <a:blip r:embed="rId3">
            <a:alphaModFix/>
          </a:blip>
          <a:stretch>
            <a:fillRect/>
          </a:stretch>
        </p:blipFill>
        <p:spPr>
          <a:xfrm>
            <a:off x="1324950" y="1017725"/>
            <a:ext cx="6575099" cy="3922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 3 features vs Top 10 </a:t>
            </a:r>
            <a:r>
              <a:rPr lang="en"/>
              <a:t>Appearance</a:t>
            </a:r>
            <a:endParaRPr/>
          </a:p>
        </p:txBody>
      </p:sp>
      <p:sp>
        <p:nvSpPr>
          <p:cNvPr id="128" name="Google Shape;128;p23"/>
          <p:cNvSpPr txBox="1"/>
          <p:nvPr>
            <p:ph idx="1" type="body"/>
          </p:nvPr>
        </p:nvSpPr>
        <p:spPr>
          <a:xfrm>
            <a:off x="311700" y="1152475"/>
            <a:ext cx="2806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solidFill>
                  <a:schemeClr val="dk1"/>
                </a:solidFill>
              </a:rPr>
              <a:t>Key Insight</a:t>
            </a:r>
            <a:r>
              <a:rPr lang="en" sz="1100">
                <a:solidFill>
                  <a:schemeClr val="dk1"/>
                </a:solidFill>
              </a:rPr>
              <a:t>: The graph shows a weak negative correlation, indicating that songs with higher valence (positivity) tend to appear in the top 10 less frequently. This suggests that, within this dataset, more positive songs may not perform as well in top 10 rankings compared to more neutral or negative songs.</a:t>
            </a:r>
            <a:endParaRPr sz="1100">
              <a:solidFill>
                <a:schemeClr val="dk1"/>
              </a:solidFill>
            </a:endParaRPr>
          </a:p>
          <a:p>
            <a:pPr indent="0" lvl="0" marL="0" rtl="0" algn="l">
              <a:spcBef>
                <a:spcPts val="1200"/>
              </a:spcBef>
              <a:spcAft>
                <a:spcPts val="1200"/>
              </a:spcAft>
              <a:buNone/>
            </a:pPr>
            <a:r>
              <a:rPr b="1" lang="en" sz="1100">
                <a:solidFill>
                  <a:schemeClr val="dk1"/>
                </a:solidFill>
              </a:rPr>
              <a:t>Key Insight:</a:t>
            </a:r>
            <a:r>
              <a:rPr lang="en" sz="1100">
                <a:solidFill>
                  <a:schemeClr val="dk1"/>
                </a:solidFill>
              </a:rPr>
              <a:t> There is no clear correlation between energy, danceability, and the number of top 10 appearances, indicating that these factors may not be strong determinants of a song's popularity</a:t>
            </a:r>
            <a:endParaRPr sz="1100">
              <a:solidFill>
                <a:schemeClr val="dk1"/>
              </a:solidFill>
            </a:endParaRPr>
          </a:p>
        </p:txBody>
      </p:sp>
      <p:pic>
        <p:nvPicPr>
          <p:cNvPr id="129" name="Google Shape;129;p23"/>
          <p:cNvPicPr preferRelativeResize="0"/>
          <p:nvPr/>
        </p:nvPicPr>
        <p:blipFill>
          <a:blip r:embed="rId3">
            <a:alphaModFix/>
          </a:blip>
          <a:stretch>
            <a:fillRect/>
          </a:stretch>
        </p:blipFill>
        <p:spPr>
          <a:xfrm>
            <a:off x="3257712" y="1017725"/>
            <a:ext cx="5773114" cy="38345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342500" y="198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Correlation Heatmap for Selected Features</a:t>
            </a:r>
            <a:endParaRPr/>
          </a:p>
        </p:txBody>
      </p:sp>
      <p:pic>
        <p:nvPicPr>
          <p:cNvPr id="135" name="Google Shape;135;p24"/>
          <p:cNvPicPr preferRelativeResize="0"/>
          <p:nvPr/>
        </p:nvPicPr>
        <p:blipFill>
          <a:blip r:embed="rId3">
            <a:alphaModFix/>
          </a:blip>
          <a:stretch>
            <a:fillRect/>
          </a:stretch>
        </p:blipFill>
        <p:spPr>
          <a:xfrm>
            <a:off x="1616975" y="713750"/>
            <a:ext cx="5951974" cy="44297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Preparation</a:t>
            </a:r>
            <a:endParaRPr/>
          </a:p>
        </p:txBody>
      </p:sp>
      <p:sp>
        <p:nvSpPr>
          <p:cNvPr id="141" name="Google Shape;141;p25"/>
          <p:cNvSpPr txBox="1"/>
          <p:nvPr>
            <p:ph idx="1" type="body"/>
          </p:nvPr>
        </p:nvSpPr>
        <p:spPr>
          <a:xfrm>
            <a:off x="311700" y="1152475"/>
            <a:ext cx="8791500" cy="3921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Dataset is in Kaggle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We had to combine </a:t>
            </a:r>
            <a:r>
              <a:rPr lang="en">
                <a:solidFill>
                  <a:schemeClr val="lt1"/>
                </a:solidFill>
                <a:highlight>
                  <a:schemeClr val="dk1"/>
                </a:highlight>
              </a:rPr>
              <a:t>2 datasets</a:t>
            </a:r>
            <a:r>
              <a:rPr lang="en">
                <a:solidFill>
                  <a:schemeClr val="dk1"/>
                </a:solidFill>
              </a:rPr>
              <a:t> to get a prediction (y variable)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Dataset 1: musical attributes such as </a:t>
            </a:r>
            <a:r>
              <a:rPr lang="en">
                <a:solidFill>
                  <a:schemeClr val="lt1"/>
                </a:solidFill>
                <a:highlight>
                  <a:schemeClr val="dk1"/>
                </a:highlight>
              </a:rPr>
              <a:t>liveness, </a:t>
            </a:r>
            <a:r>
              <a:rPr lang="en">
                <a:solidFill>
                  <a:schemeClr val="lt1"/>
                </a:solidFill>
                <a:highlight>
                  <a:schemeClr val="dk1"/>
                </a:highlight>
              </a:rPr>
              <a:t>acoustic</a:t>
            </a:r>
            <a:r>
              <a:rPr lang="en">
                <a:solidFill>
                  <a:schemeClr val="lt1"/>
                </a:solidFill>
                <a:highlight>
                  <a:schemeClr val="dk1"/>
                </a:highlight>
              </a:rPr>
              <a:t>ness, bpm</a:t>
            </a:r>
            <a:endParaRPr>
              <a:solidFill>
                <a:schemeClr val="lt1"/>
              </a:solidFill>
              <a:highlight>
                <a:schemeClr val="dk1"/>
              </a:highlight>
            </a:endParaRPr>
          </a:p>
          <a:p>
            <a:pPr indent="-342900" lvl="0" marL="457200" rtl="0" algn="l">
              <a:spcBef>
                <a:spcPts val="0"/>
              </a:spcBef>
              <a:spcAft>
                <a:spcPts val="0"/>
              </a:spcAft>
              <a:buClr>
                <a:schemeClr val="dk1"/>
              </a:buClr>
              <a:buSzPts val="1800"/>
              <a:buChar char="●"/>
            </a:pPr>
            <a:r>
              <a:rPr lang="en">
                <a:solidFill>
                  <a:schemeClr val="dk1"/>
                </a:solidFill>
              </a:rPr>
              <a:t>Dataset 1: track info, streaming metrics and </a:t>
            </a:r>
            <a:r>
              <a:rPr lang="en">
                <a:solidFill>
                  <a:schemeClr val="dk1"/>
                </a:solidFill>
              </a:rPr>
              <a:t>release</a:t>
            </a:r>
            <a:r>
              <a:rPr lang="en">
                <a:solidFill>
                  <a:schemeClr val="dk1"/>
                </a:solidFill>
              </a:rPr>
              <a:t> date detail</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Dataset 2: track info, and peak position, </a:t>
            </a:r>
            <a:r>
              <a:rPr lang="en">
                <a:solidFill>
                  <a:schemeClr val="lt1"/>
                </a:solidFill>
                <a:highlight>
                  <a:schemeClr val="dk1"/>
                </a:highlight>
              </a:rPr>
              <a:t>performance metrics</a:t>
            </a:r>
            <a:endParaRPr>
              <a:solidFill>
                <a:schemeClr val="lt1"/>
              </a:solidFill>
              <a:highlight>
                <a:schemeClr val="dk1"/>
              </a:highlight>
            </a:endParaRPr>
          </a:p>
          <a:p>
            <a:pPr indent="-342900" lvl="0" marL="457200" rtl="0" algn="l">
              <a:spcBef>
                <a:spcPts val="0"/>
              </a:spcBef>
              <a:spcAft>
                <a:spcPts val="0"/>
              </a:spcAft>
              <a:buClr>
                <a:schemeClr val="dk1"/>
              </a:buClr>
              <a:buSzPts val="1800"/>
              <a:buChar char="●"/>
            </a:pPr>
            <a:r>
              <a:rPr lang="en">
                <a:solidFill>
                  <a:schemeClr val="dk1"/>
                </a:solidFill>
              </a:rPr>
              <a:t>Combining datasets involved:</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Matching song name and artist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Some songs had exact name with different artists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Additional </a:t>
            </a:r>
            <a:r>
              <a:rPr lang="en">
                <a:solidFill>
                  <a:schemeClr val="dk1"/>
                </a:solidFill>
              </a:rPr>
              <a:t>artists</a:t>
            </a:r>
            <a:r>
              <a:rPr lang="en">
                <a:solidFill>
                  <a:schemeClr val="dk1"/>
                </a:solidFill>
              </a:rPr>
              <a:t> were credited so wildcard match needed</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For modeling the data, missing values replace with mean value</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Selection</a:t>
            </a:r>
            <a:endParaRPr/>
          </a:p>
        </p:txBody>
      </p:sp>
      <p:sp>
        <p:nvSpPr>
          <p:cNvPr id="147" name="Google Shape;147;p26"/>
          <p:cNvSpPr txBox="1"/>
          <p:nvPr>
            <p:ph idx="1" type="body"/>
          </p:nvPr>
        </p:nvSpPr>
        <p:spPr>
          <a:xfrm>
            <a:off x="311700" y="1152475"/>
            <a:ext cx="8724000" cy="3785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Binary Classification (Is it a </a:t>
            </a:r>
            <a:r>
              <a:rPr b="1" lang="en">
                <a:solidFill>
                  <a:schemeClr val="lt1"/>
                </a:solidFill>
                <a:highlight>
                  <a:schemeClr val="dk1"/>
                </a:highlight>
              </a:rPr>
              <a:t>Top 10</a:t>
            </a:r>
            <a:r>
              <a:rPr lang="en">
                <a:solidFill>
                  <a:schemeClr val="dk1"/>
                </a:solidFill>
              </a:rPr>
              <a:t> song?)</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Multiple models with Multiple Features Evaluated</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Logistic</a:t>
            </a:r>
            <a:r>
              <a:rPr lang="en">
                <a:solidFill>
                  <a:schemeClr val="dk1"/>
                </a:solidFill>
              </a:rPr>
              <a:t> Regression with Selected Features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Random Forest with Selected Features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Focused on features </a:t>
            </a:r>
            <a:r>
              <a:rPr b="1" lang="en">
                <a:solidFill>
                  <a:schemeClr val="lt1"/>
                </a:solidFill>
                <a:highlight>
                  <a:schemeClr val="dk1"/>
                </a:highlight>
              </a:rPr>
              <a:t>that are controlled</a:t>
            </a:r>
            <a:r>
              <a:rPr b="1" lang="en">
                <a:solidFill>
                  <a:schemeClr val="dk1"/>
                </a:solidFill>
              </a:rPr>
              <a:t> </a:t>
            </a:r>
            <a:r>
              <a:rPr lang="en">
                <a:solidFill>
                  <a:schemeClr val="dk1"/>
                </a:solidFill>
              </a:rPr>
              <a:t>such as: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Musical attributes (Liveness, Acousticness, BPM)</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Number of Artists on Track</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Release dates</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Final Selection</a:t>
            </a:r>
            <a:endParaRPr/>
          </a:p>
        </p:txBody>
      </p:sp>
      <p:sp>
        <p:nvSpPr>
          <p:cNvPr id="153" name="Google Shape;153;p27"/>
          <p:cNvSpPr txBox="1"/>
          <p:nvPr>
            <p:ph idx="1" type="body"/>
          </p:nvPr>
        </p:nvSpPr>
        <p:spPr>
          <a:xfrm>
            <a:off x="311700" y="1152475"/>
            <a:ext cx="8754000" cy="3861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lt1"/>
                </a:solidFill>
                <a:highlight>
                  <a:schemeClr val="dk1"/>
                </a:highlight>
              </a:rPr>
              <a:t>Random Forest </a:t>
            </a:r>
            <a:r>
              <a:rPr lang="en">
                <a:solidFill>
                  <a:schemeClr val="dk1"/>
                </a:solidFill>
              </a:rPr>
              <a:t>with Selected Features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Accuracy is at </a:t>
            </a:r>
            <a:r>
              <a:rPr lang="en">
                <a:solidFill>
                  <a:schemeClr val="lt1"/>
                </a:solidFill>
                <a:highlight>
                  <a:schemeClr val="dk1"/>
                </a:highlight>
              </a:rPr>
              <a:t>62%</a:t>
            </a:r>
            <a:endParaRPr>
              <a:solidFill>
                <a:schemeClr val="lt1"/>
              </a:solidFill>
              <a:highlight>
                <a:schemeClr val="dk1"/>
              </a:highlight>
            </a:endParaRPr>
          </a:p>
          <a:p>
            <a:pPr indent="-342900" lvl="0" marL="457200" rtl="0" algn="l">
              <a:spcBef>
                <a:spcPts val="0"/>
              </a:spcBef>
              <a:spcAft>
                <a:spcPts val="0"/>
              </a:spcAft>
              <a:buClr>
                <a:schemeClr val="dk1"/>
              </a:buClr>
              <a:buSzPts val="1800"/>
              <a:buChar char="●"/>
            </a:pPr>
            <a:r>
              <a:rPr lang="en">
                <a:solidFill>
                  <a:schemeClr val="lt1"/>
                </a:solidFill>
                <a:highlight>
                  <a:schemeClr val="dk1"/>
                </a:highlight>
              </a:rPr>
              <a:t>Better than random guessing</a:t>
            </a:r>
            <a:r>
              <a:rPr lang="en">
                <a:solidFill>
                  <a:schemeClr val="dk1"/>
                </a:solidFill>
              </a:rPr>
              <a:t> for a binary classification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We had similar results with Logistic Regression</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In some cases results were more accurate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Overall </a:t>
            </a:r>
            <a:r>
              <a:rPr lang="en">
                <a:solidFill>
                  <a:schemeClr val="dk1"/>
                </a:solidFill>
              </a:rPr>
              <a:t>accuracy</a:t>
            </a:r>
            <a:r>
              <a:rPr lang="en">
                <a:solidFill>
                  <a:schemeClr val="dk1"/>
                </a:solidFill>
              </a:rPr>
              <a:t> was at 62% as well</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Why choose Random Forest?</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Future scalability</a:t>
            </a:r>
            <a:endParaRPr>
              <a:solidFill>
                <a:schemeClr val="dk1"/>
              </a:solidFill>
            </a:endParaRPr>
          </a:p>
          <a:p>
            <a:pPr indent="-317500" lvl="1" marL="914400" rtl="0" algn="l">
              <a:spcBef>
                <a:spcPts val="0"/>
              </a:spcBef>
              <a:spcAft>
                <a:spcPts val="0"/>
              </a:spcAft>
              <a:buClr>
                <a:schemeClr val="lt1"/>
              </a:buClr>
              <a:buSzPts val="1400"/>
              <a:buChar char="○"/>
            </a:pPr>
            <a:r>
              <a:rPr lang="en">
                <a:solidFill>
                  <a:schemeClr val="lt1"/>
                </a:solidFill>
                <a:highlight>
                  <a:schemeClr val="dk1"/>
                </a:highlight>
              </a:rPr>
              <a:t>Random Forest is better at handling feature importances</a:t>
            </a:r>
            <a:endParaRPr>
              <a:solidFill>
                <a:schemeClr val="lt1"/>
              </a:solidFill>
              <a:highlight>
                <a:schemeClr val="dk1"/>
              </a:highlight>
            </a:endParaRPr>
          </a:p>
          <a:p>
            <a:pPr indent="-317500" lvl="1" marL="914400" rtl="0" algn="l">
              <a:spcBef>
                <a:spcPts val="0"/>
              </a:spcBef>
              <a:spcAft>
                <a:spcPts val="0"/>
              </a:spcAft>
              <a:buClr>
                <a:schemeClr val="dk1"/>
              </a:buClr>
              <a:buSzPts val="1400"/>
              <a:buChar char="○"/>
            </a:pPr>
            <a:r>
              <a:rPr lang="en">
                <a:solidFill>
                  <a:schemeClr val="dk1"/>
                </a:solidFill>
              </a:rPr>
              <a:t>The dimensionality of data can increase drastically</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Ensemble learning, multiple </a:t>
            </a:r>
            <a:r>
              <a:rPr lang="en">
                <a:solidFill>
                  <a:schemeClr val="dk1"/>
                </a:solidFill>
              </a:rPr>
              <a:t>iterations</a:t>
            </a:r>
            <a:r>
              <a:rPr lang="en">
                <a:solidFill>
                  <a:schemeClr val="dk1"/>
                </a:solidFill>
              </a:rPr>
              <a:t> of feature tuning</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Potential for non-linear and </a:t>
            </a:r>
            <a:r>
              <a:rPr lang="en">
                <a:solidFill>
                  <a:schemeClr val="dk1"/>
                </a:solidFill>
              </a:rPr>
              <a:t>complex</a:t>
            </a:r>
            <a:r>
              <a:rPr lang="en">
                <a:solidFill>
                  <a:schemeClr val="dk1"/>
                </a:solidFill>
              </a:rPr>
              <a:t> feature relationships									</a:t>
            </a:r>
            <a:endParaRPr>
              <a:solidFill>
                <a:schemeClr val="dk1"/>
              </a:solidFill>
            </a:endParaRPr>
          </a:p>
        </p:txBody>
      </p:sp>
      <p:pic>
        <p:nvPicPr>
          <p:cNvPr id="154" name="Google Shape;154;p27"/>
          <p:cNvPicPr preferRelativeResize="0"/>
          <p:nvPr/>
        </p:nvPicPr>
        <p:blipFill>
          <a:blip r:embed="rId3">
            <a:alphaModFix/>
          </a:blip>
          <a:stretch>
            <a:fillRect/>
          </a:stretch>
        </p:blipFill>
        <p:spPr>
          <a:xfrm>
            <a:off x="6143550" y="3439425"/>
            <a:ext cx="2845950" cy="1012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2709150" y="187300"/>
            <a:ext cx="3725700" cy="82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solidFill>
                  <a:srgbClr val="FFFFFF"/>
                </a:solidFill>
                <a:latin typeface="Georgia"/>
                <a:ea typeface="Georgia"/>
                <a:cs typeface="Georgia"/>
                <a:sym typeface="Georgia"/>
              </a:rPr>
              <a:t>Evaluation</a:t>
            </a:r>
            <a:endParaRPr sz="4600">
              <a:solidFill>
                <a:srgbClr val="FFFFFF"/>
              </a:solidFill>
              <a:latin typeface="Georgia"/>
              <a:ea typeface="Georgia"/>
              <a:cs typeface="Georgia"/>
              <a:sym typeface="Georgia"/>
            </a:endParaRPr>
          </a:p>
        </p:txBody>
      </p:sp>
      <p:sp>
        <p:nvSpPr>
          <p:cNvPr id="160" name="Google Shape;16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Our model is </a:t>
            </a:r>
            <a:r>
              <a:rPr b="1" lang="en" sz="2400">
                <a:solidFill>
                  <a:schemeClr val="dk1"/>
                </a:solidFill>
                <a:highlight>
                  <a:srgbClr val="CCCCCC"/>
                </a:highlight>
                <a:latin typeface="Times New Roman"/>
                <a:ea typeface="Times New Roman"/>
                <a:cs typeface="Times New Roman"/>
                <a:sym typeface="Times New Roman"/>
              </a:rPr>
              <a:t>OKAY</a:t>
            </a:r>
            <a:r>
              <a:rPr lang="en" sz="2400">
                <a:solidFill>
                  <a:schemeClr val="dk1"/>
                </a:solidFill>
                <a:latin typeface="Times New Roman"/>
                <a:ea typeface="Times New Roman"/>
                <a:cs typeface="Times New Roman"/>
                <a:sym typeface="Times New Roman"/>
              </a:rPr>
              <a:t> at predicting a </a:t>
            </a:r>
            <a:r>
              <a:rPr b="1" lang="en" sz="2400">
                <a:solidFill>
                  <a:srgbClr val="FFFFFF"/>
                </a:solidFill>
                <a:highlight>
                  <a:srgbClr val="000000"/>
                </a:highlight>
                <a:latin typeface="Times New Roman"/>
                <a:ea typeface="Times New Roman"/>
                <a:cs typeface="Times New Roman"/>
                <a:sym typeface="Times New Roman"/>
              </a:rPr>
              <a:t>Top 10 Hit</a:t>
            </a:r>
            <a:endParaRPr b="1" sz="2400">
              <a:solidFill>
                <a:srgbClr val="FFFFFF"/>
              </a:solidFill>
              <a:highlight>
                <a:srgbClr val="000000"/>
              </a:highlight>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However, </a:t>
            </a:r>
            <a:r>
              <a:rPr lang="en" sz="2400">
                <a:solidFill>
                  <a:schemeClr val="dk1"/>
                </a:solidFill>
                <a:latin typeface="Times New Roman"/>
                <a:ea typeface="Times New Roman"/>
                <a:cs typeface="Times New Roman"/>
                <a:sym typeface="Times New Roman"/>
              </a:rPr>
              <a:t>our model </a:t>
            </a:r>
            <a:r>
              <a:rPr lang="en" sz="2400">
                <a:solidFill>
                  <a:schemeClr val="dk1"/>
                </a:solidFill>
                <a:latin typeface="Times New Roman"/>
                <a:ea typeface="Times New Roman"/>
                <a:cs typeface="Times New Roman"/>
                <a:sym typeface="Times New Roman"/>
              </a:rPr>
              <a:t>is </a:t>
            </a:r>
            <a:r>
              <a:rPr b="1" lang="en" sz="2400">
                <a:solidFill>
                  <a:schemeClr val="dk1"/>
                </a:solidFill>
                <a:highlight>
                  <a:srgbClr val="FFFFFF"/>
                </a:highlight>
                <a:latin typeface="Times New Roman"/>
                <a:ea typeface="Times New Roman"/>
                <a:cs typeface="Times New Roman"/>
                <a:sym typeface="Times New Roman"/>
              </a:rPr>
              <a:t>GOOD</a:t>
            </a:r>
            <a:r>
              <a:rPr b="1" lang="en" sz="2400">
                <a:solidFill>
                  <a:schemeClr val="dk1"/>
                </a:solidFill>
                <a:latin typeface="Times New Roman"/>
                <a:ea typeface="Times New Roman"/>
                <a:cs typeface="Times New Roman"/>
                <a:sym typeface="Times New Roman"/>
              </a:rPr>
              <a:t> </a:t>
            </a:r>
            <a:r>
              <a:rPr lang="en" sz="2400">
                <a:solidFill>
                  <a:schemeClr val="dk1"/>
                </a:solidFill>
                <a:latin typeface="Times New Roman"/>
                <a:ea typeface="Times New Roman"/>
                <a:cs typeface="Times New Roman"/>
                <a:sym typeface="Times New Roman"/>
              </a:rPr>
              <a:t>at predicting the </a:t>
            </a:r>
            <a:r>
              <a:rPr b="1" lang="en" sz="2400">
                <a:solidFill>
                  <a:srgbClr val="B7B7B7"/>
                </a:solidFill>
                <a:highlight>
                  <a:srgbClr val="CC0000"/>
                </a:highlight>
                <a:latin typeface="Times New Roman"/>
                <a:ea typeface="Times New Roman"/>
                <a:cs typeface="Times New Roman"/>
                <a:sym typeface="Times New Roman"/>
              </a:rPr>
              <a:t>OPPOSITE </a:t>
            </a:r>
            <a:endParaRPr b="1"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 sz="2400">
                <a:solidFill>
                  <a:srgbClr val="FFFFFF"/>
                </a:solidFill>
                <a:highlight>
                  <a:srgbClr val="000000"/>
                </a:highlight>
                <a:latin typeface="Times New Roman"/>
                <a:ea typeface="Times New Roman"/>
                <a:cs typeface="Times New Roman"/>
                <a:sym typeface="Times New Roman"/>
              </a:rPr>
              <a:t>Stakeholders</a:t>
            </a:r>
            <a:r>
              <a:rPr lang="en" sz="2400">
                <a:solidFill>
                  <a:schemeClr val="dk1"/>
                </a:solidFill>
                <a:latin typeface="Times New Roman"/>
                <a:ea typeface="Times New Roman"/>
                <a:cs typeface="Times New Roman"/>
                <a:sym typeface="Times New Roman"/>
              </a:rPr>
              <a:t> can use this to test if their song </a:t>
            </a:r>
            <a:r>
              <a:rPr b="1" lang="en" sz="2400">
                <a:solidFill>
                  <a:schemeClr val="dk1"/>
                </a:solidFill>
                <a:highlight>
                  <a:srgbClr val="FFFFFF"/>
                </a:highlight>
                <a:latin typeface="Times New Roman"/>
                <a:ea typeface="Times New Roman"/>
                <a:cs typeface="Times New Roman"/>
                <a:sym typeface="Times New Roman"/>
              </a:rPr>
              <a:t>can top the charts</a:t>
            </a:r>
            <a:endParaRPr b="1" sz="2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b="1" lang="en" sz="2400">
                <a:solidFill>
                  <a:schemeClr val="dk1"/>
                </a:solidFill>
                <a:highlight>
                  <a:srgbClr val="FFFFFF"/>
                </a:highlight>
                <a:latin typeface="Times New Roman"/>
                <a:ea typeface="Times New Roman"/>
                <a:cs typeface="Times New Roman"/>
                <a:sym typeface="Times New Roman"/>
              </a:rPr>
              <a:t>Artists</a:t>
            </a:r>
            <a:r>
              <a:rPr b="1" lang="en" sz="2400">
                <a:solidFill>
                  <a:schemeClr val="dk1"/>
                </a:solidFill>
                <a:latin typeface="Times New Roman"/>
                <a:ea typeface="Times New Roman"/>
                <a:cs typeface="Times New Roman"/>
                <a:sym typeface="Times New Roman"/>
              </a:rPr>
              <a:t> </a:t>
            </a:r>
            <a:r>
              <a:rPr lang="en" sz="2400">
                <a:solidFill>
                  <a:schemeClr val="dk1"/>
                </a:solidFill>
                <a:latin typeface="Times New Roman"/>
                <a:ea typeface="Times New Roman"/>
                <a:cs typeface="Times New Roman"/>
                <a:sym typeface="Times New Roman"/>
              </a:rPr>
              <a:t>can use this to </a:t>
            </a:r>
            <a:r>
              <a:rPr b="1" lang="en" sz="2400">
                <a:solidFill>
                  <a:srgbClr val="FFFFFF"/>
                </a:solidFill>
                <a:highlight>
                  <a:srgbClr val="000000"/>
                </a:highlight>
                <a:latin typeface="Times New Roman"/>
                <a:ea typeface="Times New Roman"/>
                <a:cs typeface="Times New Roman"/>
                <a:sym typeface="Times New Roman"/>
              </a:rPr>
              <a:t>analyze ways to improve</a:t>
            </a:r>
            <a:endParaRPr b="1" sz="2400">
              <a:solidFill>
                <a:srgbClr val="FFFFFF"/>
              </a:solidFill>
              <a:highlight>
                <a:srgbClr val="000000"/>
              </a:highlight>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Further improvements</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 sz="2400">
                <a:solidFill>
                  <a:srgbClr val="FFFFFF"/>
                </a:solidFill>
                <a:highlight>
                  <a:srgbClr val="000000"/>
                </a:highlight>
                <a:latin typeface="Times New Roman"/>
                <a:ea typeface="Times New Roman"/>
                <a:cs typeface="Times New Roman"/>
                <a:sym typeface="Times New Roman"/>
              </a:rPr>
              <a:t>clustering by genre</a:t>
            </a:r>
            <a:r>
              <a:rPr lang="en" sz="2400">
                <a:solidFill>
                  <a:schemeClr val="dk1"/>
                </a:solidFill>
                <a:latin typeface="Times New Roman"/>
                <a:ea typeface="Times New Roman"/>
                <a:cs typeface="Times New Roman"/>
                <a:sym typeface="Times New Roman"/>
              </a:rPr>
              <a:t> // </a:t>
            </a:r>
            <a:r>
              <a:rPr b="1" lang="en" sz="2400">
                <a:solidFill>
                  <a:srgbClr val="000000"/>
                </a:solidFill>
                <a:highlight>
                  <a:srgbClr val="FFFFFF"/>
                </a:highlight>
                <a:latin typeface="Times New Roman"/>
                <a:ea typeface="Times New Roman"/>
                <a:cs typeface="Times New Roman"/>
                <a:sym typeface="Times New Roman"/>
              </a:rPr>
              <a:t>unsupervised learning</a:t>
            </a:r>
            <a:endParaRPr b="1" sz="2400">
              <a:solidFill>
                <a:srgbClr val="000000"/>
              </a:solidFill>
              <a:highlight>
                <a:srgbClr val="FFFFF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2179750" y="251750"/>
            <a:ext cx="4886100" cy="96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5300">
                <a:solidFill>
                  <a:srgbClr val="F2F2F2"/>
                </a:solidFill>
                <a:latin typeface="Georgia"/>
                <a:ea typeface="Georgia"/>
                <a:cs typeface="Georgia"/>
                <a:sym typeface="Georgia"/>
              </a:rPr>
              <a:t>Keep in mind…</a:t>
            </a:r>
            <a:endParaRPr sz="5300">
              <a:solidFill>
                <a:srgbClr val="F2F2F2"/>
              </a:solidFill>
              <a:latin typeface="Georgia"/>
              <a:ea typeface="Georgia"/>
              <a:cs typeface="Georgia"/>
              <a:sym typeface="Georgia"/>
            </a:endParaRPr>
          </a:p>
        </p:txBody>
      </p:sp>
      <p:sp>
        <p:nvSpPr>
          <p:cNvPr id="166" name="Google Shape;166;p29"/>
          <p:cNvSpPr/>
          <p:nvPr/>
        </p:nvSpPr>
        <p:spPr>
          <a:xfrm>
            <a:off x="472450" y="1288550"/>
            <a:ext cx="1707300" cy="1697400"/>
          </a:xfrm>
          <a:prstGeom prst="roundRect">
            <a:avLst>
              <a:gd fmla="val 16667" name="adj"/>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t>Music is complex</a:t>
            </a:r>
            <a:endParaRPr b="1" sz="2000"/>
          </a:p>
        </p:txBody>
      </p:sp>
      <p:sp>
        <p:nvSpPr>
          <p:cNvPr id="167" name="Google Shape;167;p29"/>
          <p:cNvSpPr/>
          <p:nvPr/>
        </p:nvSpPr>
        <p:spPr>
          <a:xfrm>
            <a:off x="5755575" y="1492600"/>
            <a:ext cx="2199000" cy="1975800"/>
          </a:xfrm>
          <a:prstGeom prst="hexagon">
            <a:avLst>
              <a:gd fmla="val 28852" name="adj"/>
              <a:gd fmla="val 115470" name="vf"/>
            </a:avLst>
          </a:prstGeom>
          <a:solidFill>
            <a:schemeClr val="lt2"/>
          </a:solidFill>
          <a:ln cap="flat" cmpd="sng" w="3810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t>H</a:t>
            </a:r>
            <a:r>
              <a:rPr b="1" lang="en" sz="1600"/>
              <a:t>idden factors to becoming a Top 10 song</a:t>
            </a:r>
            <a:endParaRPr b="1" sz="1600"/>
          </a:p>
        </p:txBody>
      </p:sp>
      <p:sp>
        <p:nvSpPr>
          <p:cNvPr id="168" name="Google Shape;168;p29"/>
          <p:cNvSpPr/>
          <p:nvPr/>
        </p:nvSpPr>
        <p:spPr>
          <a:xfrm>
            <a:off x="3189175" y="2802650"/>
            <a:ext cx="2050800" cy="2029500"/>
          </a:xfrm>
          <a:prstGeom prst="ellipse">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Not all </a:t>
            </a:r>
            <a:r>
              <a:rPr b="1" lang="en" sz="1800"/>
              <a:t>music</a:t>
            </a:r>
            <a:r>
              <a:rPr b="1" lang="en" sz="1800"/>
              <a:t> is the same</a:t>
            </a:r>
            <a:endParaRPr b="1"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6"/>
                                        </p:tgtEl>
                                        <p:attrNameLst>
                                          <p:attrName>style.visibility</p:attrName>
                                        </p:attrNameLst>
                                      </p:cBhvr>
                                      <p:to>
                                        <p:strVal val="visible"/>
                                      </p:to>
                                    </p:set>
                                    <p:anim calcmode="lin" valueType="num">
                                      <p:cBhvr additive="base">
                                        <p:cTn dur="1000"/>
                                        <p:tgtEl>
                                          <p:spTgt spid="166"/>
                                        </p:tgtEl>
                                        <p:attrNameLst>
                                          <p:attrName>ppt_w</p:attrName>
                                        </p:attrNameLst>
                                      </p:cBhvr>
                                      <p:tavLst>
                                        <p:tav fmla="" tm="0">
                                          <p:val>
                                            <p:strVal val="0"/>
                                          </p:val>
                                        </p:tav>
                                        <p:tav fmla="" tm="100000">
                                          <p:val>
                                            <p:strVal val="#ppt_w"/>
                                          </p:val>
                                        </p:tav>
                                      </p:tavLst>
                                    </p:anim>
                                    <p:anim calcmode="lin" valueType="num">
                                      <p:cBhvr additive="base">
                                        <p:cTn dur="1000"/>
                                        <p:tgtEl>
                                          <p:spTgt spid="16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8"/>
                                        </p:tgtEl>
                                        <p:attrNameLst>
                                          <p:attrName>style.visibility</p:attrName>
                                        </p:attrNameLst>
                                      </p:cBhvr>
                                      <p:to>
                                        <p:strVal val="visible"/>
                                      </p:to>
                                    </p:set>
                                    <p:anim calcmode="lin" valueType="num">
                                      <p:cBhvr additive="base">
                                        <p:cTn dur="1000"/>
                                        <p:tgtEl>
                                          <p:spTgt spid="168"/>
                                        </p:tgtEl>
                                        <p:attrNameLst>
                                          <p:attrName>ppt_w</p:attrName>
                                        </p:attrNameLst>
                                      </p:cBhvr>
                                      <p:tavLst>
                                        <p:tav fmla="" tm="0">
                                          <p:val>
                                            <p:strVal val="0"/>
                                          </p:val>
                                        </p:tav>
                                        <p:tav fmla="" tm="100000">
                                          <p:val>
                                            <p:strVal val="#ppt_w"/>
                                          </p:val>
                                        </p:tav>
                                      </p:tavLst>
                                    </p:anim>
                                    <p:anim calcmode="lin" valueType="num">
                                      <p:cBhvr additive="base">
                                        <p:cTn dur="1000"/>
                                        <p:tgtEl>
                                          <p:spTgt spid="16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7"/>
                                        </p:tgtEl>
                                        <p:attrNameLst>
                                          <p:attrName>style.visibility</p:attrName>
                                        </p:attrNameLst>
                                      </p:cBhvr>
                                      <p:to>
                                        <p:strVal val="visible"/>
                                      </p:to>
                                    </p:set>
                                    <p:anim calcmode="lin" valueType="num">
                                      <p:cBhvr additive="base">
                                        <p:cTn dur="1000"/>
                                        <p:tgtEl>
                                          <p:spTgt spid="167"/>
                                        </p:tgtEl>
                                        <p:attrNameLst>
                                          <p:attrName>ppt_w</p:attrName>
                                        </p:attrNameLst>
                                      </p:cBhvr>
                                      <p:tavLst>
                                        <p:tav fmla="" tm="0">
                                          <p:val>
                                            <p:strVal val="0"/>
                                          </p:val>
                                        </p:tav>
                                        <p:tav fmla="" tm="100000">
                                          <p:val>
                                            <p:strVal val="#ppt_w"/>
                                          </p:val>
                                        </p:tav>
                                      </p:tavLst>
                                    </p:anim>
                                    <p:anim calcmode="lin" valueType="num">
                                      <p:cBhvr additive="base">
                                        <p:cTn dur="1000"/>
                                        <p:tgtEl>
                                          <p:spTgt spid="16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p:nvPr/>
        </p:nvSpPr>
        <p:spPr>
          <a:xfrm>
            <a:off x="193824" y="1782350"/>
            <a:ext cx="8707973" cy="1879299"/>
          </a:xfrm>
          <a:prstGeom prst="rect">
            <a:avLst/>
          </a:prstGeom>
        </p:spPr>
        <p:txBody>
          <a:bodyPr>
            <a:prstTxWarp prst="textPlain"/>
          </a:bodyPr>
          <a:lstStyle/>
          <a:p>
            <a:pPr lvl="0" algn="ctr"/>
            <a:r>
              <a:rPr b="1" i="0">
                <a:ln cap="flat" cmpd="sng" w="28575">
                  <a:solidFill>
                    <a:srgbClr val="000000"/>
                  </a:solidFill>
                  <a:prstDash val="solid"/>
                  <a:round/>
                  <a:headEnd len="sm" w="sm" type="none"/>
                  <a:tailEnd len="sm" w="sm" type="none"/>
                </a:ln>
                <a:solidFill>
                  <a:schemeClr val="lt2"/>
                </a:solidFill>
                <a:latin typeface="Georgia"/>
              </a:rPr>
              <a:t>Questions?</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